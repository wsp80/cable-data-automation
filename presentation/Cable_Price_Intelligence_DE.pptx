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4"/>
  </p:sldMasterIdLst>
  <p:notesMasterIdLst>
    <p:notesMasterId r:id="rId19"/>
  </p:notesMasterIdLst>
  <p:handoutMasterIdLst>
    <p:handoutMasterId r:id="rId20"/>
  </p:handoutMasterIdLst>
  <p:sldIdLst>
    <p:sldId id="286" r:id="rId5"/>
    <p:sldId id="287" r:id="rId6"/>
    <p:sldId id="267" r:id="rId7"/>
    <p:sldId id="293" r:id="rId8"/>
    <p:sldId id="294" r:id="rId9"/>
    <p:sldId id="296" r:id="rId10"/>
    <p:sldId id="295" r:id="rId11"/>
    <p:sldId id="297" r:id="rId12"/>
    <p:sldId id="299" r:id="rId13"/>
    <p:sldId id="298" r:id="rId14"/>
    <p:sldId id="300" r:id="rId15"/>
    <p:sldId id="302" r:id="rId16"/>
    <p:sldId id="301" r:id="rId17"/>
    <p:sldId id="272" r:id="rId18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Helle Formatvorlage 3 - Akz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652" autoAdjust="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623AA0E9-8CD0-4A6E-A65E-A06028B83F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5E2408B-C9AB-4665-AC99-B057BD0A43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D692DCA-595E-42D6-B905-4249014B1533}" type="datetime1">
              <a:rPr lang="de-DE" smtClean="0"/>
              <a:t>16.07.2026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CD1B215-531B-4869-BD98-BD3B1390B1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0B53F21-4D67-455D-8074-E9E6EC26FA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52858E0-3D38-47B7-97D4-4FE08D90D359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214433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0E0FA-8D3A-4B45-A241-16949C514CA0}" type="datetime1">
              <a:rPr lang="de-DE" noProof="0" smtClean="0"/>
              <a:pPr/>
              <a:t>16.07.2026</a:t>
            </a:fld>
            <a:endParaRPr lang="de-DE" noProof="0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 dirty="0"/>
              <a:t>Textmasterformate durch Klicken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84ECAD9-32EE-4091-BDA5-6BD15ACC5E58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106618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9250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54674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3601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84ECAD9-32EE-4091-BDA5-6BD15ACC5E58}" type="slidenum">
              <a:rPr lang="de-DE" noProof="0" smtClean="0"/>
              <a:t>6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0391761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de-DE" smtClean="0"/>
              <a:t>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55258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9">
            <a:extLst>
              <a:ext uri="{FF2B5EF4-FFF2-40B4-BE49-F238E27FC236}">
                <a16:creationId xmlns:a16="http://schemas.microsoft.com/office/drawing/2014/main" id="{D1D313A2-A4D4-40DF-A0C2-C29F641685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 rtlCol="0"/>
          <a:lstStyle/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F4EFE87-FD64-4C31-B64B-B358B8E8E3E0}" type="datetime1">
              <a:rPr lang="de-DE" noProof="0" smtClean="0"/>
              <a:t>16.07.2026</a:t>
            </a:fld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212850" y="4508500"/>
            <a:ext cx="5118100" cy="1279652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212850" y="2057400"/>
            <a:ext cx="5118100" cy="1929066"/>
          </a:xfrm>
        </p:spPr>
        <p:txBody>
          <a:bodyPr rtlCol="0" anchor="b">
            <a:noAutofit/>
          </a:bodyPr>
          <a:lstStyle>
            <a:lvl1pPr algn="l">
              <a:lnSpc>
                <a:spcPct val="90000"/>
              </a:lnSpc>
              <a:defRPr sz="5400" b="1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6727005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rallelogramm 14">
            <a:extLst>
              <a:ext uri="{FF2B5EF4-FFF2-40B4-BE49-F238E27FC236}">
                <a16:creationId xmlns:a16="http://schemas.microsoft.com/office/drawing/2014/main" id="{F5AA8A10-E19C-430B-9D5D-8D12F92BFEC5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de-DE" noProof="0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7C93D4F-3003-4D58-9AFB-356A0F800F42}"/>
              </a:ext>
            </a:extLst>
          </p:cNvPr>
          <p:cNvSpPr/>
          <p:nvPr userDrawn="1"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AFFED1D-AE10-49DC-B816-4365C8575FED}" type="datetime1">
              <a:rPr lang="de-DE" noProof="0" smtClean="0"/>
              <a:t>16.07.2026</a:t>
            </a:fld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86028FDE-6655-4B55-B3B4-5B366034E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 rtlCol="0"/>
          <a:lstStyle/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629400" y="758952"/>
            <a:ext cx="4526280" cy="3227514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6000" b="1" spc="-5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632171" y="4508500"/>
            <a:ext cx="4526280" cy="1279652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D3E1BBA-670B-4CAE-B839-50ADB23DDBC6}"/>
              </a:ext>
            </a:extLst>
          </p:cNvPr>
          <p:cNvSpPr/>
          <p:nvPr userDrawn="1"/>
        </p:nvSpPr>
        <p:spPr>
          <a:xfrm>
            <a:off x="6311900" y="0"/>
            <a:ext cx="15392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66393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F311090-5FA7-4C32-A9C3-9BD7F5B9B9DE}" type="datetime1">
              <a:rPr lang="de-DE" noProof="0" smtClean="0"/>
              <a:t>16.07.2026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018278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nitts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rallelogramm 14">
            <a:extLst>
              <a:ext uri="{FF2B5EF4-FFF2-40B4-BE49-F238E27FC236}">
                <a16:creationId xmlns:a16="http://schemas.microsoft.com/office/drawing/2014/main" id="{98B82A56-7790-48EC-983D-AB8F703699B2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de-DE" noProof="0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F8BFD9B-5ED1-42F9-9C8D-9A96B517A8EA}" type="datetime1">
              <a:rPr lang="de-DE" noProof="0" smtClean="0"/>
              <a:t>16.07.2026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 noProof="0" dirty="0"/>
              <a:t>Fußzeile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12" name="Bildplatzhalter 9">
            <a:extLst>
              <a:ext uri="{FF2B5EF4-FFF2-40B4-BE49-F238E27FC236}">
                <a16:creationId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 rtlCol="0"/>
          <a:lstStyle/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2451099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rtl="0"/>
            <a:endParaRPr lang="de-DE" sz="1400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641599" y="3746500"/>
            <a:ext cx="8331202" cy="1308100"/>
          </a:xfrm>
        </p:spPr>
        <p:txBody>
          <a:bodyPr rtlCol="0" anchor="b" anchorCtr="0">
            <a:noAutofit/>
          </a:bodyPr>
          <a:lstStyle>
            <a:lvl1pPr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641600" y="5219700"/>
            <a:ext cx="8331201" cy="58674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596984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bschnitts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0AA2882-5B07-4960-BA6E-33702DE7B1BA}" type="datetime1">
              <a:rPr lang="de-DE" noProof="0" smtClean="0"/>
              <a:t>16.07.2026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 noProof="0" dirty="0"/>
              <a:t>Fußzeile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12" name="Bildplatzhalter 9">
            <a:extLst>
              <a:ext uri="{FF2B5EF4-FFF2-40B4-BE49-F238E27FC236}">
                <a16:creationId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 rtlCol="0"/>
          <a:lstStyle/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1735138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rtl="0"/>
            <a:endParaRPr lang="de-DE" sz="1400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30399" y="3746500"/>
            <a:ext cx="8331202" cy="1308100"/>
          </a:xfrm>
        </p:spPr>
        <p:txBody>
          <a:bodyPr rtlCol="0" anchor="b" anchorCtr="0">
            <a:noAutofit/>
          </a:bodyPr>
          <a:lstStyle>
            <a:lvl1pPr algn="ctr"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930400" y="5219700"/>
            <a:ext cx="8331201" cy="586740"/>
          </a:xfrm>
        </p:spPr>
        <p:txBody>
          <a:bodyPr lIns="91440" rIns="91440" rtlCol="0" anchor="t" anchorCtr="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7664897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07D64A9-7C51-4F55-82EC-E1DFFCE545AB}" type="datetime1">
              <a:rPr lang="de-DE" noProof="0" smtClean="0"/>
              <a:t>16.07.2026</a:t>
            </a:fld>
            <a:endParaRPr lang="de-DE" noProof="0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387972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Autofit/>
          </a:bodyPr>
          <a:lstStyle>
            <a:lvl1pPr marL="0" indent="0" algn="l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1186731" y="2958274"/>
            <a:ext cx="4639736" cy="2910821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605395" y="2958273"/>
            <a:ext cx="4639736" cy="2910821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FFB8160-44A7-4F56-AA4A-D5172B2E1157}" type="datetime1">
              <a:rPr lang="de-DE" noProof="0" smtClean="0"/>
              <a:t>16.07.2026</a:t>
            </a:fld>
            <a:endParaRPr lang="de-DE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19594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F640A9C-8473-4DF8-893D-500B090655BA}" type="datetime1">
              <a:rPr lang="de-DE" noProof="0" smtClean="0"/>
              <a:t>16.07.2026</a:t>
            </a:fld>
            <a:endParaRPr lang="de-DE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180013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 14">
            <a:extLst>
              <a:ext uri="{FF2B5EF4-FFF2-40B4-BE49-F238E27FC236}">
                <a16:creationId xmlns:a16="http://schemas.microsoft.com/office/drawing/2014/main" id="{AF082EE3-41AA-4817-A1CC-C33DDB8F675F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de-DE" noProof="0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E198724F-2570-4671-BC97-1632EA4B6A9A}" type="datetime1">
              <a:rPr lang="de-DE" noProof="0" smtClean="0"/>
              <a:t>16.07.2026</a:t>
            </a:fld>
            <a:endParaRPr lang="de-DE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 noProof="0" dirty="0"/>
              <a:t>Fußzeile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de-DE" noProof="0" smtClean="0"/>
              <a:pPr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010507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elogramm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de-DE" noProof="0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92200" y="786383"/>
            <a:ext cx="3068833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458984" y="812800"/>
            <a:ext cx="5713841" cy="4868609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092200" y="3043050"/>
            <a:ext cx="3068832" cy="2638359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139700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2" name="Datumsplatzhalt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0C45B00-06F4-4C8D-A518-E31F3B24947C}" type="datetime1">
              <a:rPr lang="de-DE" noProof="0" smtClean="0"/>
              <a:t>16.07.2026</a:t>
            </a:fld>
            <a:endParaRPr lang="de-DE" noProof="0" dirty="0"/>
          </a:p>
        </p:txBody>
      </p:sp>
      <p:sp>
        <p:nvSpPr>
          <p:cNvPr id="13" name="Fußzeilenplatzhalt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 noProof="0" dirty="0"/>
              <a:t>Fußzeile</a:t>
            </a:r>
          </a:p>
        </p:txBody>
      </p:sp>
      <p:sp>
        <p:nvSpPr>
          <p:cNvPr id="14" name="Foliennummernplatzhalt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cxnSp>
        <p:nvCxnSpPr>
          <p:cNvPr id="15" name="Gerader Verbinder 19">
            <a:extLst>
              <a:ext uri="{FF2B5EF4-FFF2-40B4-BE49-F238E27FC236}">
                <a16:creationId xmlns:a16="http://schemas.microsoft.com/office/drawing/2014/main" id="{D84C14C5-D99C-45CD-8001-AC745F4FB49B}"/>
              </a:ext>
            </a:extLst>
          </p:cNvPr>
          <p:cNvCxnSpPr>
            <a:cxnSpLocks/>
          </p:cNvCxnSpPr>
          <p:nvPr userDrawn="1"/>
        </p:nvCxnSpPr>
        <p:spPr>
          <a:xfrm flipH="1">
            <a:off x="1092200" y="6446838"/>
            <a:ext cx="1643438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9">
            <a:extLst>
              <a:ext uri="{FF2B5EF4-FFF2-40B4-BE49-F238E27FC236}">
                <a16:creationId xmlns:a16="http://schemas.microsoft.com/office/drawing/2014/main" id="{019842DD-D0AB-4E35-9AB2-7DBB6E266120}"/>
              </a:ext>
            </a:extLst>
          </p:cNvPr>
          <p:cNvCxnSpPr>
            <a:cxnSpLocks/>
          </p:cNvCxnSpPr>
          <p:nvPr userDrawn="1"/>
        </p:nvCxnSpPr>
        <p:spPr>
          <a:xfrm flipH="1">
            <a:off x="8420100" y="6429376"/>
            <a:ext cx="1000462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9">
            <a:extLst>
              <a:ext uri="{FF2B5EF4-FFF2-40B4-BE49-F238E27FC236}">
                <a16:creationId xmlns:a16="http://schemas.microsoft.com/office/drawing/2014/main" id="{832851A7-B301-4616-9843-9A0D06646DF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65675" y="6446838"/>
            <a:ext cx="407258" cy="635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208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8D807A0-2E2E-49BD-9623-9ECB675C43C6}" type="datetime1">
              <a:rPr lang="de-DE" noProof="0" smtClean="0"/>
              <a:t>16.07.2026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265082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elogramm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de-DE" noProof="0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rtlCol="0" anchor="ctr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2003424"/>
            <a:ext cx="1036320" cy="18573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2" name="Datumsplatzhalt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FB832C7A-91BE-49C4-8C20-61DBB227EFF2}" type="datetime1">
              <a:rPr lang="de-DE" noProof="0" smtClean="0"/>
              <a:t>16.07.2026</a:t>
            </a:fld>
            <a:endParaRPr lang="de-DE" noProof="0" dirty="0"/>
          </a:p>
        </p:txBody>
      </p:sp>
      <p:sp>
        <p:nvSpPr>
          <p:cNvPr id="13" name="Fußzeilenplatzhalt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 noProof="0" dirty="0"/>
              <a:t>Fußzeile</a:t>
            </a:r>
          </a:p>
        </p:txBody>
      </p:sp>
      <p:sp>
        <p:nvSpPr>
          <p:cNvPr id="14" name="Foliennummernplatzhalt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BC7DA98-7B92-4F45-80F8-1AEF72A601CF}"/>
              </a:ext>
            </a:extLst>
          </p:cNvPr>
          <p:cNvSpPr/>
          <p:nvPr userDrawn="1"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314700" cy="2093975"/>
          </a:xfrm>
        </p:spPr>
        <p:txBody>
          <a:bodyPr rtlCol="0" anchor="ctr">
            <a:normAutofit/>
          </a:bodyPr>
          <a:lstStyle>
            <a:lvl1pPr>
              <a:lnSpc>
                <a:spcPct val="90000"/>
              </a:lnSpc>
              <a:defRPr sz="4400" b="1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F96815B-4256-4CE0-9FCF-3A2967CF5792}"/>
              </a:ext>
            </a:extLst>
          </p:cNvPr>
          <p:cNvSpPr/>
          <p:nvPr userDrawn="1"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chemeClr val="tx2">
              <a:lumMod val="20000"/>
              <a:lumOff val="8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181282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0" name="Parallelogramm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rtlCol="0" anchor="ctr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12" name="Datumsplatzhalt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B950098F-F7F5-47E7-9E70-55076ABBD7D0}" type="datetime1">
              <a:rPr lang="de-DE" noProof="0" smtClean="0"/>
              <a:t>16.07.2026</a:t>
            </a:fld>
            <a:endParaRPr lang="de-DE" noProof="0" dirty="0"/>
          </a:p>
        </p:txBody>
      </p:sp>
      <p:sp>
        <p:nvSpPr>
          <p:cNvPr id="13" name="Fußzeilenplatzhalt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 noProof="0" dirty="0"/>
              <a:t>Fußzeile</a:t>
            </a:r>
          </a:p>
        </p:txBody>
      </p:sp>
      <p:sp>
        <p:nvSpPr>
          <p:cNvPr id="14" name="Foliennummernplatzhalt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rtlCol="0"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954305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elogramm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84722" y="548355"/>
            <a:ext cx="6054846" cy="634336"/>
          </a:xfrm>
        </p:spPr>
        <p:txBody>
          <a:bodyPr rtlCol="0" anchor="ctr">
            <a:noAutofit/>
          </a:bodyPr>
          <a:lstStyle>
            <a:lvl1pPr>
              <a:lnSpc>
                <a:spcPct val="90000"/>
              </a:lnSpc>
              <a:defRPr sz="3600" b="1" i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00833" y="1611313"/>
            <a:ext cx="6072099" cy="3755104"/>
          </a:xfrm>
        </p:spPr>
        <p:txBody>
          <a:bodyPr rtlCol="0" anchor="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12" name="Datumsplatzhalt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735C8C4-173E-47B1-BC8D-70B32D1FFA35}" type="datetime1">
              <a:rPr lang="de-DE" noProof="0" smtClean="0"/>
              <a:t>16.07.2026</a:t>
            </a:fld>
            <a:endParaRPr lang="de-DE" noProof="0" dirty="0"/>
          </a:p>
        </p:txBody>
      </p:sp>
      <p:sp>
        <p:nvSpPr>
          <p:cNvPr id="13" name="Fußzeilenplatzhalt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 noProof="0" dirty="0"/>
              <a:t>Fußzeile</a:t>
            </a:r>
          </a:p>
        </p:txBody>
      </p:sp>
      <p:sp>
        <p:nvSpPr>
          <p:cNvPr id="14" name="Foliennummernplatzhalt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18" name="Bildplatzhalt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7510465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41486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0" name="Parallelogramm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068577" y="880375"/>
            <a:ext cx="6054846" cy="634336"/>
          </a:xfrm>
        </p:spPr>
        <p:txBody>
          <a:bodyPr rtlCol="0" anchor="ctr">
            <a:noAutofit/>
          </a:bodyPr>
          <a:lstStyle>
            <a:lvl1pPr algn="ctr">
              <a:lnSpc>
                <a:spcPct val="90000"/>
              </a:lnSpc>
              <a:defRPr sz="3600" b="1" i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2" name="Datumsplatzhalt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575827D8-3C30-4432-A427-84CAEB2453BE}" type="datetime1">
              <a:rPr lang="de-DE" noProof="0" smtClean="0"/>
              <a:t>16.07.2026</a:t>
            </a:fld>
            <a:endParaRPr lang="de-DE" noProof="0" dirty="0"/>
          </a:p>
        </p:txBody>
      </p:sp>
      <p:sp>
        <p:nvSpPr>
          <p:cNvPr id="13" name="Fußzeilenplatzhalt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 noProof="0" dirty="0"/>
              <a:t>Fußzeile</a:t>
            </a:r>
          </a:p>
        </p:txBody>
      </p:sp>
      <p:sp>
        <p:nvSpPr>
          <p:cNvPr id="14" name="Foliennummernplatzhalt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F446475-024F-4C71-99D3-501468ACAD11}"/>
              </a:ext>
            </a:extLst>
          </p:cNvPr>
          <p:cNvSpPr/>
          <p:nvPr userDrawn="1"/>
        </p:nvSpPr>
        <p:spPr>
          <a:xfrm>
            <a:off x="5577840" y="0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767602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elogramm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de-DE" noProof="0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rtlCol="0"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473373" y="943430"/>
            <a:ext cx="4699452" cy="3977366"/>
          </a:xfrm>
        </p:spPr>
        <p:txBody>
          <a:bodyPr rtlCol="0"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12" name="Datumsplatzhalt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90A9CFE4-5C45-48B6-94AE-239F669C2CB0}" type="datetime1">
              <a:rPr lang="de-DE" noProof="0" smtClean="0"/>
              <a:t>16.07.2026</a:t>
            </a:fld>
            <a:endParaRPr lang="de-DE" noProof="0" dirty="0"/>
          </a:p>
        </p:txBody>
      </p:sp>
      <p:sp>
        <p:nvSpPr>
          <p:cNvPr id="13" name="Fußzeilenplatzhalt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 noProof="0" dirty="0"/>
              <a:t>Fußzeile</a:t>
            </a:r>
          </a:p>
        </p:txBody>
      </p:sp>
      <p:sp>
        <p:nvSpPr>
          <p:cNvPr id="14" name="Foliennummernplatzhalt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EF73BF96-A07C-4AAA-A37F-65151BD22A70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012771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elogramm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de-DE" noProof="0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 userDrawn="1"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rtlCol="0"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518529" y="943430"/>
            <a:ext cx="4654296" cy="3977366"/>
          </a:xfrm>
        </p:spPr>
        <p:txBody>
          <a:bodyPr rtlCol="0"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12" name="Datumsplatzhalt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B25A19C5-DFA1-4B16-B888-5681C72A64E7}" type="datetime1">
              <a:rPr lang="de-DE" noProof="0" smtClean="0"/>
              <a:t>16.07.2026</a:t>
            </a:fld>
            <a:endParaRPr lang="de-DE" noProof="0" dirty="0"/>
          </a:p>
        </p:txBody>
      </p:sp>
      <p:sp>
        <p:nvSpPr>
          <p:cNvPr id="13" name="Fußzeilenplatzhalt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 noProof="0" dirty="0"/>
              <a:t>Fußzeile</a:t>
            </a:r>
          </a:p>
        </p:txBody>
      </p:sp>
      <p:sp>
        <p:nvSpPr>
          <p:cNvPr id="14" name="Foliennummernplatzhalt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127F28F-6C7B-471B-9839-EF88426C1976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498616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Bildplatzhalt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/>
          </a:solidFill>
        </p:spPr>
        <p:txBody>
          <a:bodyPr lIns="457200" tIns="457200" rtlCol="0"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 algn="ctr">
              <a:defRPr sz="4400" b="1">
                <a:solidFill>
                  <a:srgbClr val="FFFFFF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29717E9C-248D-4A7A-A695-7FB93DC585F6}" type="datetime1">
              <a:rPr lang="de-DE" noProof="0" smtClean="0"/>
              <a:t>16.07.2026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 dirty="0"/>
              <a:t>Fußzeile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3A98EE3D-8CD1-4C3F-BD1C-C98C9596463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4A4DE4A-F8EF-47D5-8C37-A9021C2BB6A3}"/>
              </a:ext>
            </a:extLst>
          </p:cNvPr>
          <p:cNvSpPr/>
          <p:nvPr userDrawn="1"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5986956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BBE2C78-7BA9-41F7-92BA-F1F41DC673F9}" type="datetime1">
              <a:rPr lang="de-DE" noProof="0" smtClean="0"/>
              <a:t>16.07.2026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556040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1346200"/>
            <a:ext cx="2448033" cy="4530725"/>
          </a:xfrm>
        </p:spPr>
        <p:txBody>
          <a:bodyPr vert="eaVert"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1092200" y="1346200"/>
            <a:ext cx="7480300" cy="4530723"/>
          </a:xfrm>
        </p:spPr>
        <p:txBody>
          <a:bodyPr vert="eaVert" lIns="45720" tIns="0" rIns="45720" bIns="0"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A1E5C2F-FA5C-4DA9-A6AA-65DC0C232EE7}" type="datetime1">
              <a:rPr lang="de-DE" noProof="0" smtClean="0"/>
              <a:t>16.07.2026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6B443CC6-CDCA-4595-ADAE-DCB961FF1A8E}"/>
              </a:ext>
            </a:extLst>
          </p:cNvPr>
          <p:cNvSpPr/>
          <p:nvPr userDrawn="1"/>
        </p:nvSpPr>
        <p:spPr>
          <a:xfrm rot="16200000">
            <a:off x="8871481" y="-14658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940687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elogramm 14">
            <a:extLst>
              <a:ext uri="{FF2B5EF4-FFF2-40B4-BE49-F238E27FC236}">
                <a16:creationId xmlns:a16="http://schemas.microsoft.com/office/drawing/2014/main" id="{D20796F3-5674-4AF5-9623-575731F82E52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de-DE" noProof="0" dirty="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216548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de-DE" noProof="0" dirty="0"/>
              <a:t>Textmasterformate durch Klicken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41B5299-E1B6-495B-A545-A2AEB4711549}" type="datetime1">
              <a:rPr lang="de-DE" noProof="0" smtClean="0"/>
              <a:t>16.07.2026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 noProof="0" dirty="0"/>
              <a:t>Fußzeile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F25E55C-1C16-46C6-B789-A4B2BCEF8F86}"/>
              </a:ext>
            </a:extLst>
          </p:cNvPr>
          <p:cNvSpPr/>
          <p:nvPr userDrawn="1"/>
        </p:nvSpPr>
        <p:spPr>
          <a:xfrm>
            <a:off x="0" y="1011981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69028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18" r:id="rId2"/>
    <p:sldLayoutId id="2147483707" r:id="rId3"/>
    <p:sldLayoutId id="2147483708" r:id="rId4"/>
    <p:sldLayoutId id="2147483719" r:id="rId5"/>
    <p:sldLayoutId id="2147483709" r:id="rId6"/>
    <p:sldLayoutId id="2147483716" r:id="rId7"/>
    <p:sldLayoutId id="2147483710" r:id="rId8"/>
    <p:sldLayoutId id="2147483711" r:id="rId9"/>
    <p:sldLayoutId id="2147483712" r:id="rId10"/>
    <p:sldLayoutId id="2147483727" r:id="rId11"/>
    <p:sldLayoutId id="2147483720" r:id="rId12"/>
    <p:sldLayoutId id="2147483721" r:id="rId13"/>
    <p:sldLayoutId id="2147483725" r:id="rId14"/>
    <p:sldLayoutId id="2147483726" r:id="rId15"/>
    <p:sldLayoutId id="2147483722" r:id="rId16"/>
    <p:sldLayoutId id="2147483723" r:id="rId17"/>
    <p:sldLayoutId id="2147483715" r:id="rId18"/>
    <p:sldLayoutId id="2147483713" r:id="rId19"/>
    <p:sldLayoutId id="2147483714" r:id="rId20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50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 userDrawn="1">
          <p15:clr>
            <a:srgbClr val="F26B43"/>
          </p15:clr>
        </p15:guide>
        <p15:guide id="2" pos="688" userDrawn="1">
          <p15:clr>
            <a:srgbClr val="F26B43"/>
          </p15:clr>
        </p15:guide>
        <p15:guide id="3" pos="7038" userDrawn="1">
          <p15:clr>
            <a:srgbClr val="F26B43"/>
          </p15:clr>
        </p15:guide>
        <p15:guide id="4" orient="horz" pos="3702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2" y="530986"/>
            <a:ext cx="10058400" cy="1803455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de-DE" dirty="0">
                <a:solidFill>
                  <a:srgbClr val="00B0F0"/>
                </a:solidFill>
              </a:rPr>
              <a:t>Cable Price Intelligence</a:t>
            </a:r>
            <a:br>
              <a:rPr lang="de-DE" dirty="0">
                <a:solidFill>
                  <a:srgbClr val="00B0F0"/>
                </a:solidFill>
              </a:rPr>
            </a:br>
            <a:r>
              <a:rPr lang="de-DE" dirty="0">
                <a:solidFill>
                  <a:srgbClr val="00B0F0"/>
                </a:solidFill>
              </a:rPr>
              <a:t>Automatisierte Kabelklassifizierung </a:t>
            </a:r>
            <a:br>
              <a:rPr lang="ru-RU" dirty="0">
                <a:solidFill>
                  <a:srgbClr val="00B0F0"/>
                </a:solidFill>
              </a:rPr>
            </a:br>
            <a:r>
              <a:rPr lang="de-DE" dirty="0">
                <a:solidFill>
                  <a:srgbClr val="00B0F0"/>
                </a:solidFill>
              </a:rPr>
              <a:t>und Preisprognose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2EDD22-E769-5AF9-7402-B4DC936816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97436" y="3534392"/>
            <a:ext cx="749456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Query · Python · PostgreSQL</a:t>
            </a:r>
            <a:endParaRPr kumimoji="0" lang="ru-RU" alt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· Power BI · Streamlit</a:t>
            </a:r>
            <a:endParaRPr kumimoji="0" lang="de-DE" alt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788331BF-9C97-8F41-6C77-3810F41475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657"/>
          <a:stretch/>
        </p:blipFill>
        <p:spPr>
          <a:xfrm rot="16200000">
            <a:off x="253386" y="3685275"/>
            <a:ext cx="4329703" cy="2015745"/>
          </a:xfrm>
          <a:prstGeom prst="rect">
            <a:avLst/>
          </a:prstGeom>
        </p:spPr>
      </p:pic>
      <p:sp>
        <p:nvSpPr>
          <p:cNvPr id="20" name="Rectangle 1">
            <a:extLst>
              <a:ext uri="{FF2B5EF4-FFF2-40B4-BE49-F238E27FC236}">
                <a16:creationId xmlns:a16="http://schemas.microsoft.com/office/drawing/2014/main" id="{29C6E0C9-76A8-731D-5162-D36F4B518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7436" y="5593874"/>
            <a:ext cx="749456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de-DE" altLang="de-DE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End-</a:t>
            </a:r>
            <a:r>
              <a:rPr lang="de-DE" altLang="de-DE" sz="16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to</a:t>
            </a:r>
            <a:r>
              <a:rPr lang="de-DE" altLang="de-DE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-End-Pipeline für technische Kabeldaten und Preisprognosen</a:t>
            </a:r>
          </a:p>
        </p:txBody>
      </p:sp>
    </p:spTree>
    <p:extLst>
      <p:ext uri="{BB962C8B-B14F-4D97-AF65-F5344CB8AC3E}">
        <p14:creationId xmlns:p14="http://schemas.microsoft.com/office/powerpoint/2010/main" val="796331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75DA682D-7AC5-48E0-993B-AB3F02735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147" y="0"/>
            <a:ext cx="11161853" cy="995423"/>
          </a:xfrm>
        </p:spPr>
        <p:txBody>
          <a:bodyPr rtlCol="0" anchor="ctr" anchorCtr="0">
            <a:normAutofit/>
          </a:bodyPr>
          <a:lstStyle/>
          <a:p>
            <a:pPr algn="ctr" rtl="0"/>
            <a:r>
              <a:rPr lang="de-DE" dirty="0"/>
              <a:t>Kabelkonstruktion und Variantenvielfalt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AD8225C-4C76-AEDD-A80C-B814138C6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89903"/>
            <a:ext cx="7003970" cy="3941827"/>
          </a:xfrm>
          <a:prstGeom prst="rect">
            <a:avLst/>
          </a:prstGeom>
        </p:spPr>
      </p:pic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3ABF5F82-068C-4D60-E7E4-3A61B34E2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023624"/>
              </p:ext>
            </p:extLst>
          </p:nvPr>
        </p:nvGraphicFramePr>
        <p:xfrm>
          <a:off x="7003970" y="995423"/>
          <a:ext cx="4894806" cy="5690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7403">
                  <a:extLst>
                    <a:ext uri="{9D8B030D-6E8A-4147-A177-3AD203B41FA5}">
                      <a16:colId xmlns:a16="http://schemas.microsoft.com/office/drawing/2014/main" val="2655346054"/>
                    </a:ext>
                  </a:extLst>
                </a:gridCol>
                <a:gridCol w="2447403">
                  <a:extLst>
                    <a:ext uri="{9D8B030D-6E8A-4147-A177-3AD203B41FA5}">
                      <a16:colId xmlns:a16="http://schemas.microsoft.com/office/drawing/2014/main" val="2023308031"/>
                    </a:ext>
                  </a:extLst>
                </a:gridCol>
              </a:tblGrid>
              <a:tr h="417905">
                <a:tc>
                  <a:txBody>
                    <a:bodyPr/>
                    <a:lstStyle/>
                    <a:p>
                      <a:r>
                        <a:rPr lang="de-DE" sz="1400" dirty="0"/>
                        <a:t>Konstruktionselement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Anzahl der Varianten/Parameter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800675"/>
                  </a:ext>
                </a:extLst>
              </a:tr>
              <a:tr h="1411523">
                <a:tc>
                  <a:txBody>
                    <a:bodyPr/>
                    <a:lstStyle/>
                    <a:p>
                      <a:r>
                        <a:rPr lang="de-DE" sz="1400" dirty="0"/>
                        <a:t>Leiter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2 Arten, 5 Unterarten und zusätzliche Querschnittsparameter: 4 Querschnittsgruppen, bis zu 50 Gruppen sowie 8 Querschnittsgrößen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1831471"/>
                  </a:ext>
                </a:extLst>
              </a:tr>
              <a:tr h="417905">
                <a:tc>
                  <a:txBody>
                    <a:bodyPr/>
                    <a:lstStyle/>
                    <a:p>
                      <a:r>
                        <a:rPr lang="de-DE" sz="1400" dirty="0"/>
                        <a:t>Isolierung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5</a:t>
                      </a:r>
                      <a:endParaRPr lang="de-D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5782139"/>
                  </a:ext>
                </a:extLst>
              </a:tr>
              <a:tr h="417905">
                <a:tc>
                  <a:txBody>
                    <a:bodyPr/>
                    <a:lstStyle/>
                    <a:p>
                      <a:r>
                        <a:rPr lang="de-DE" sz="1400" dirty="0"/>
                        <a:t>Gruppenschirm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7</a:t>
                      </a:r>
                      <a:endParaRPr lang="de-D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8504954"/>
                  </a:ext>
                </a:extLst>
              </a:tr>
              <a:tr h="417905">
                <a:tc>
                  <a:txBody>
                    <a:bodyPr/>
                    <a:lstStyle/>
                    <a:p>
                      <a:r>
                        <a:rPr lang="de-DE" sz="1400" dirty="0"/>
                        <a:t>Gesamtschirm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7</a:t>
                      </a:r>
                      <a:endParaRPr lang="de-D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2312923"/>
                  </a:ext>
                </a:extLst>
              </a:tr>
              <a:tr h="417905">
                <a:tc>
                  <a:txBody>
                    <a:bodyPr/>
                    <a:lstStyle/>
                    <a:p>
                      <a:r>
                        <a:rPr lang="de-DE" sz="1400" dirty="0"/>
                        <a:t>Füllung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2</a:t>
                      </a:r>
                      <a:endParaRPr lang="de-D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9335393"/>
                  </a:ext>
                </a:extLst>
              </a:tr>
              <a:tr h="417905">
                <a:tc>
                  <a:txBody>
                    <a:bodyPr/>
                    <a:lstStyle/>
                    <a:p>
                      <a:r>
                        <a:rPr lang="de-DE" sz="1400" dirty="0"/>
                        <a:t>Armierung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2</a:t>
                      </a:r>
                      <a:endParaRPr lang="de-D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7602346"/>
                  </a:ext>
                </a:extLst>
              </a:tr>
              <a:tr h="417905">
                <a:tc>
                  <a:txBody>
                    <a:bodyPr/>
                    <a:lstStyle/>
                    <a:p>
                      <a:r>
                        <a:rPr lang="de-DE" sz="1400" dirty="0"/>
                        <a:t>Außenmantel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5</a:t>
                      </a:r>
                      <a:endParaRPr lang="de-D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00349"/>
                  </a:ext>
                </a:extLst>
              </a:tr>
              <a:tr h="417905">
                <a:tc>
                  <a:txBody>
                    <a:bodyPr/>
                    <a:lstStyle/>
                    <a:p>
                      <a:r>
                        <a:rPr lang="de-DE" sz="1400" dirty="0"/>
                        <a:t>Nennspannung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3</a:t>
                      </a:r>
                      <a:endParaRPr lang="de-D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480384"/>
                  </a:ext>
                </a:extLst>
              </a:tr>
              <a:tr h="417905">
                <a:tc>
                  <a:txBody>
                    <a:bodyPr/>
                    <a:lstStyle/>
                    <a:p>
                      <a:r>
                        <a:rPr lang="de-DE" sz="1400" dirty="0"/>
                        <a:t>Mantelfarbe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3</a:t>
                      </a:r>
                      <a:endParaRPr lang="de-D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3439063"/>
                  </a:ext>
                </a:extLst>
              </a:tr>
              <a:tr h="417905">
                <a:tc>
                  <a:txBody>
                    <a:bodyPr/>
                    <a:lstStyle/>
                    <a:p>
                      <a:r>
                        <a:rPr lang="de-DE" sz="1400" dirty="0"/>
                        <a:t>Sonstige Sonderausführungen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4</a:t>
                      </a:r>
                      <a:endParaRPr lang="de-D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5162839"/>
                  </a:ext>
                </a:extLst>
              </a:tr>
            </a:tbl>
          </a:graphicData>
        </a:graphic>
      </p:graphicFrame>
      <p:sp>
        <p:nvSpPr>
          <p:cNvPr id="16" name="Titel 5">
            <a:extLst>
              <a:ext uri="{FF2B5EF4-FFF2-40B4-BE49-F238E27FC236}">
                <a16:creationId xmlns:a16="http://schemas.microsoft.com/office/drawing/2014/main" id="{FF70E761-CA0A-95B4-F355-AE88BBB0C4D9}"/>
              </a:ext>
            </a:extLst>
          </p:cNvPr>
          <p:cNvSpPr txBox="1">
            <a:spLocks/>
          </p:cNvSpPr>
          <p:nvPr/>
        </p:nvSpPr>
        <p:spPr>
          <a:xfrm>
            <a:off x="430191" y="5404259"/>
            <a:ext cx="6180882" cy="128199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00B0F0"/>
                </a:solidFill>
              </a:rPr>
              <a:t>5 000</a:t>
            </a:r>
          </a:p>
          <a:p>
            <a:r>
              <a:rPr lang="de-DE" dirty="0">
                <a:solidFill>
                  <a:srgbClr val="00B0F0"/>
                </a:solidFill>
              </a:rPr>
              <a:t>100 000 / &gt;10 000 000</a:t>
            </a:r>
          </a:p>
        </p:txBody>
      </p:sp>
    </p:spTree>
    <p:extLst>
      <p:ext uri="{BB962C8B-B14F-4D97-AF65-F5344CB8AC3E}">
        <p14:creationId xmlns:p14="http://schemas.microsoft.com/office/powerpoint/2010/main" val="380154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899D6BD8-CF4F-9991-2D2C-E292D24192A2}"/>
              </a:ext>
            </a:extLst>
          </p:cNvPr>
          <p:cNvSpPr txBox="1"/>
          <p:nvPr/>
        </p:nvSpPr>
        <p:spPr>
          <a:xfrm>
            <a:off x="1054629" y="281155"/>
            <a:ext cx="50413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/>
              <a:t>In Europa gibt es </a:t>
            </a:r>
            <a:r>
              <a:rPr lang="de-DE" sz="2400" b="1" dirty="0">
                <a:solidFill>
                  <a:srgbClr val="00B0F0"/>
                </a:solidFill>
              </a:rPr>
              <a:t>mehrere Dutzend Hersteller </a:t>
            </a:r>
            <a:r>
              <a:rPr lang="de-DE" sz="2400" dirty="0"/>
              <a:t>von MSR- und Instrumentationskabeln mit eigenen Marken- und Bezeichnungssystemen.</a:t>
            </a:r>
          </a:p>
        </p:txBody>
      </p:sp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FC07028B-F88E-473F-18D9-4F578EAF2E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284773"/>
              </p:ext>
            </p:extLst>
          </p:nvPr>
        </p:nvGraphicFramePr>
        <p:xfrm>
          <a:off x="1054628" y="2018626"/>
          <a:ext cx="10657472" cy="164934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64368">
                  <a:extLst>
                    <a:ext uri="{9D8B030D-6E8A-4147-A177-3AD203B41FA5}">
                      <a16:colId xmlns:a16="http://schemas.microsoft.com/office/drawing/2014/main" val="279194480"/>
                    </a:ext>
                  </a:extLst>
                </a:gridCol>
                <a:gridCol w="2664368">
                  <a:extLst>
                    <a:ext uri="{9D8B030D-6E8A-4147-A177-3AD203B41FA5}">
                      <a16:colId xmlns:a16="http://schemas.microsoft.com/office/drawing/2014/main" val="844197898"/>
                    </a:ext>
                  </a:extLst>
                </a:gridCol>
                <a:gridCol w="2664368">
                  <a:extLst>
                    <a:ext uri="{9D8B030D-6E8A-4147-A177-3AD203B41FA5}">
                      <a16:colId xmlns:a16="http://schemas.microsoft.com/office/drawing/2014/main" val="2296042968"/>
                    </a:ext>
                  </a:extLst>
                </a:gridCol>
                <a:gridCol w="2664368">
                  <a:extLst>
                    <a:ext uri="{9D8B030D-6E8A-4147-A177-3AD203B41FA5}">
                      <a16:colId xmlns:a16="http://schemas.microsoft.com/office/drawing/2014/main" val="480163234"/>
                    </a:ext>
                  </a:extLst>
                </a:gridCol>
              </a:tblGrid>
              <a:tr h="254266">
                <a:tc>
                  <a:txBody>
                    <a:bodyPr/>
                    <a:lstStyle/>
                    <a:p>
                      <a:r>
                        <a:rPr lang="de-DE" sz="1400" b="1" dirty="0"/>
                        <a:t>LAPP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 b="1" dirty="0"/>
                        <a:t>HELUKABEL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 b="1" dirty="0"/>
                        <a:t>Prysmian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 b="1" dirty="0" err="1"/>
                        <a:t>Cavicel</a:t>
                      </a:r>
                      <a:endParaRPr lang="de-DE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7304119"/>
                  </a:ext>
                </a:extLst>
              </a:tr>
              <a:tr h="254266">
                <a:tc>
                  <a:txBody>
                    <a:bodyPr/>
                    <a:lstStyle/>
                    <a:p>
                      <a:r>
                        <a:rPr lang="de-DE" sz="1400" b="1" dirty="0" err="1"/>
                        <a:t>Draka</a:t>
                      </a:r>
                      <a:endParaRPr lang="de-DE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 b="1" dirty="0"/>
                        <a:t>Nexans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 b="1" dirty="0"/>
                        <a:t>Eland Cables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 b="1" dirty="0"/>
                        <a:t>Kabelwerk Eupen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634936"/>
                  </a:ext>
                </a:extLst>
              </a:tr>
              <a:tr h="254266">
                <a:tc>
                  <a:txBody>
                    <a:bodyPr/>
                    <a:lstStyle/>
                    <a:p>
                      <a:r>
                        <a:rPr lang="de-DE" sz="1400" b="1" dirty="0"/>
                        <a:t>SAB </a:t>
                      </a:r>
                      <a:r>
                        <a:rPr lang="de-DE" sz="1400" b="1" dirty="0" err="1"/>
                        <a:t>Bröckskes</a:t>
                      </a:r>
                      <a:endParaRPr lang="de-DE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 b="1" dirty="0"/>
                        <a:t>TKD Kabel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 b="1" dirty="0"/>
                        <a:t>Lütze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 b="1" dirty="0" err="1"/>
                        <a:t>Habia</a:t>
                      </a:r>
                      <a:r>
                        <a:rPr lang="de-DE" sz="1400" b="1" dirty="0"/>
                        <a:t> Cable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159857"/>
                  </a:ext>
                </a:extLst>
              </a:tr>
              <a:tr h="430145">
                <a:tc>
                  <a:txBody>
                    <a:bodyPr/>
                    <a:lstStyle/>
                    <a:p>
                      <a:r>
                        <a:rPr lang="de-DE" sz="1400" b="1" dirty="0"/>
                        <a:t>Tele-</a:t>
                      </a:r>
                      <a:r>
                        <a:rPr lang="de-DE" sz="1400" b="1" dirty="0" err="1"/>
                        <a:t>Fonika</a:t>
                      </a:r>
                      <a:r>
                        <a:rPr lang="de-DE" sz="1400" b="1" dirty="0"/>
                        <a:t> Kable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 b="1" dirty="0" err="1"/>
                        <a:t>Tratos</a:t>
                      </a:r>
                      <a:endParaRPr lang="de-DE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 b="1" dirty="0"/>
                        <a:t>Top Cable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 b="1" dirty="0"/>
                        <a:t>BITNER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7737615"/>
                  </a:ext>
                </a:extLst>
              </a:tr>
              <a:tr h="254266">
                <a:tc>
                  <a:txBody>
                    <a:bodyPr/>
                    <a:lstStyle/>
                    <a:p>
                      <a:r>
                        <a:rPr lang="de-DE" sz="1400" b="1" dirty="0"/>
                        <a:t>Leoni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 b="1" dirty="0" err="1"/>
                        <a:t>Coroflex</a:t>
                      </a:r>
                      <a:endParaRPr lang="de-DE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 b="1" dirty="0" err="1"/>
                        <a:t>Huber+Suhner</a:t>
                      </a:r>
                      <a:endParaRPr lang="de-DE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 b="1" dirty="0"/>
                        <a:t>TECHNOKABEL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3301287"/>
                  </a:ext>
                </a:extLst>
              </a:tr>
            </a:tbl>
          </a:graphicData>
        </a:graphic>
      </p:graphicFrame>
      <p:sp>
        <p:nvSpPr>
          <p:cNvPr id="12" name="Titel 6">
            <a:extLst>
              <a:ext uri="{FF2B5EF4-FFF2-40B4-BE49-F238E27FC236}">
                <a16:creationId xmlns:a16="http://schemas.microsoft.com/office/drawing/2014/main" id="{79925C94-9C47-A0BF-9B56-4DA56A16F109}"/>
              </a:ext>
            </a:extLst>
          </p:cNvPr>
          <p:cNvSpPr txBox="1">
            <a:spLocks/>
          </p:cNvSpPr>
          <p:nvPr/>
        </p:nvSpPr>
        <p:spPr>
          <a:xfrm>
            <a:off x="1054629" y="3835782"/>
            <a:ext cx="5130801" cy="229167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de-DE" sz="3200" dirty="0">
                <a:solidFill>
                  <a:srgbClr val="00B0F0"/>
                </a:solidFill>
              </a:rPr>
              <a:t>Aufgabe 1:</a:t>
            </a:r>
            <a:endParaRPr lang="ru-RU" sz="3200" dirty="0">
              <a:solidFill>
                <a:srgbClr val="00B0F0"/>
              </a:solidFill>
            </a:endParaRPr>
          </a:p>
          <a:p>
            <a:endParaRPr lang="ru-RU" sz="1100" dirty="0">
              <a:solidFill>
                <a:srgbClr val="00B0F0"/>
              </a:solidFill>
            </a:endParaRPr>
          </a:p>
          <a:p>
            <a:r>
              <a:rPr lang="de-DE" sz="3200" dirty="0"/>
              <a:t>Automatische Übersetzung gleicher Kabelkonstruktionen in herstellerspezifische Bezeichnungen</a:t>
            </a:r>
          </a:p>
        </p:txBody>
      </p:sp>
      <p:sp>
        <p:nvSpPr>
          <p:cNvPr id="15" name="Titel 6">
            <a:extLst>
              <a:ext uri="{FF2B5EF4-FFF2-40B4-BE49-F238E27FC236}">
                <a16:creationId xmlns:a16="http://schemas.microsoft.com/office/drawing/2014/main" id="{1AB7FE8B-B7FB-FA18-5637-271552384BE5}"/>
              </a:ext>
            </a:extLst>
          </p:cNvPr>
          <p:cNvSpPr txBox="1">
            <a:spLocks/>
          </p:cNvSpPr>
          <p:nvPr/>
        </p:nvSpPr>
        <p:spPr>
          <a:xfrm>
            <a:off x="6095998" y="3835782"/>
            <a:ext cx="5616102" cy="235976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de-DE" sz="3200" dirty="0">
                <a:solidFill>
                  <a:srgbClr val="00B0F0"/>
                </a:solidFill>
              </a:rPr>
              <a:t>Aufgabe </a:t>
            </a:r>
            <a:r>
              <a:rPr lang="ru-RU" sz="3200" dirty="0">
                <a:solidFill>
                  <a:srgbClr val="00B0F0"/>
                </a:solidFill>
              </a:rPr>
              <a:t>2</a:t>
            </a:r>
            <a:r>
              <a:rPr lang="de-DE" sz="3200" dirty="0">
                <a:solidFill>
                  <a:srgbClr val="00B0F0"/>
                </a:solidFill>
              </a:rPr>
              <a:t>:</a:t>
            </a:r>
            <a:endParaRPr lang="ru-RU" sz="3200" dirty="0">
              <a:solidFill>
                <a:srgbClr val="00B0F0"/>
              </a:solidFill>
            </a:endParaRPr>
          </a:p>
          <a:p>
            <a:endParaRPr lang="ru-RU" sz="1100" dirty="0">
              <a:solidFill>
                <a:srgbClr val="00B0F0"/>
              </a:solidFill>
            </a:endParaRPr>
          </a:p>
          <a:p>
            <a:r>
              <a:rPr lang="de-DE" sz="3200" dirty="0"/>
              <a:t>Preisprognose und Preisvergleich ohne vollständige Preisdaten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65731949-B4E2-EA2C-E06F-94BBD3BA4015}"/>
              </a:ext>
            </a:extLst>
          </p:cNvPr>
          <p:cNvSpPr txBox="1"/>
          <p:nvPr/>
        </p:nvSpPr>
        <p:spPr>
          <a:xfrm>
            <a:off x="6096000" y="281155"/>
            <a:ext cx="56161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b="1" dirty="0">
                <a:solidFill>
                  <a:srgbClr val="00B0F0"/>
                </a:solidFill>
              </a:rPr>
              <a:t>Preise</a:t>
            </a:r>
            <a:r>
              <a:rPr lang="de-DE" sz="2400" dirty="0"/>
              <a:t> für Kabelkonstruktionen zu erhalten, die bisher noch nicht kalkuliert wurden.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65D097F8-DCB9-8A15-0BB8-C1E0DB89E073}"/>
              </a:ext>
            </a:extLst>
          </p:cNvPr>
          <p:cNvSpPr txBox="1"/>
          <p:nvPr/>
        </p:nvSpPr>
        <p:spPr>
          <a:xfrm>
            <a:off x="6097622" y="1019818"/>
            <a:ext cx="5614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/>
              <a:t>Vergleich der </a:t>
            </a:r>
            <a:r>
              <a:rPr lang="de-DE" sz="2400" dirty="0">
                <a:solidFill>
                  <a:srgbClr val="00B0F0"/>
                </a:solidFill>
              </a:rPr>
              <a:t>Preisniveaus</a:t>
            </a:r>
            <a:r>
              <a:rPr lang="de-DE" sz="2400" dirty="0"/>
              <a:t> verschiedener Hersteller ermöglichen</a:t>
            </a:r>
          </a:p>
        </p:txBody>
      </p:sp>
    </p:spTree>
    <p:extLst>
      <p:ext uri="{BB962C8B-B14F-4D97-AF65-F5344CB8AC3E}">
        <p14:creationId xmlns:p14="http://schemas.microsoft.com/office/powerpoint/2010/main" val="38160565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4">
            <a:extLst>
              <a:ext uri="{FF2B5EF4-FFF2-40B4-BE49-F238E27FC236}">
                <a16:creationId xmlns:a16="http://schemas.microsoft.com/office/drawing/2014/main" id="{A01F6B8B-CBE1-1F1C-0E66-59F5090E6961}"/>
              </a:ext>
            </a:extLst>
          </p:cNvPr>
          <p:cNvSpPr txBox="1">
            <a:spLocks/>
          </p:cNvSpPr>
          <p:nvPr/>
        </p:nvSpPr>
        <p:spPr>
          <a:xfrm>
            <a:off x="-1" y="21550"/>
            <a:ext cx="12192000" cy="99542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de-DE" dirty="0"/>
              <a:t>Projektarchitektur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888BF82-44DE-5ED7-3766-D55C0282680F}"/>
              </a:ext>
            </a:extLst>
          </p:cNvPr>
          <p:cNvSpPr txBox="1"/>
          <p:nvPr/>
        </p:nvSpPr>
        <p:spPr>
          <a:xfrm>
            <a:off x="1" y="5978565"/>
            <a:ext cx="12191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>
                <a:solidFill>
                  <a:srgbClr val="00B0F0"/>
                </a:solidFill>
              </a:rPr>
              <a:t>Die Lösung verbindet Datenaufbereitung, technische Klassifizierung, Preisprognose und Reporting in einer End-</a:t>
            </a:r>
            <a:r>
              <a:rPr lang="de-DE" dirty="0" err="1">
                <a:solidFill>
                  <a:srgbClr val="00B0F0"/>
                </a:solidFill>
              </a:rPr>
              <a:t>to</a:t>
            </a:r>
            <a:r>
              <a:rPr lang="de-DE" dirty="0">
                <a:solidFill>
                  <a:srgbClr val="00B0F0"/>
                </a:solidFill>
              </a:rPr>
              <a:t>-End-Pipeline.</a:t>
            </a:r>
          </a:p>
        </p:txBody>
      </p:sp>
      <p:grpSp>
        <p:nvGrpSpPr>
          <p:cNvPr id="65" name="Gruppieren 64">
            <a:extLst>
              <a:ext uri="{FF2B5EF4-FFF2-40B4-BE49-F238E27FC236}">
                <a16:creationId xmlns:a16="http://schemas.microsoft.com/office/drawing/2014/main" id="{AA45A8B4-D756-FE2D-B504-ECD93E26E0CC}"/>
              </a:ext>
            </a:extLst>
          </p:cNvPr>
          <p:cNvGrpSpPr/>
          <p:nvPr/>
        </p:nvGrpSpPr>
        <p:grpSpPr>
          <a:xfrm>
            <a:off x="894134" y="2050875"/>
            <a:ext cx="10822027" cy="2756249"/>
            <a:chOff x="894134" y="2050875"/>
            <a:chExt cx="10822027" cy="2756249"/>
          </a:xfrm>
        </p:grpSpPr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14CA523A-8E78-887B-5813-E1112881E339}"/>
                </a:ext>
              </a:extLst>
            </p:cNvPr>
            <p:cNvSpPr/>
            <p:nvPr/>
          </p:nvSpPr>
          <p:spPr>
            <a:xfrm>
              <a:off x="898998" y="2050876"/>
              <a:ext cx="1605063" cy="58365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Rohdaten</a:t>
              </a:r>
            </a:p>
          </p:txBody>
        </p:sp>
        <p:sp>
          <p:nvSpPr>
            <p:cNvPr id="11" name="Rechteck: abgerundete Ecken 10">
              <a:extLst>
                <a:ext uri="{FF2B5EF4-FFF2-40B4-BE49-F238E27FC236}">
                  <a16:creationId xmlns:a16="http://schemas.microsoft.com/office/drawing/2014/main" id="{FABD5035-E0E2-22AC-DC17-2C0F9AD2B81A}"/>
                </a:ext>
              </a:extLst>
            </p:cNvPr>
            <p:cNvSpPr/>
            <p:nvPr/>
          </p:nvSpPr>
          <p:spPr>
            <a:xfrm>
              <a:off x="894134" y="4201008"/>
              <a:ext cx="1605063" cy="58365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Power BI / Streamlit</a:t>
              </a:r>
            </a:p>
          </p:txBody>
        </p:sp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09451963-9242-DF92-AC10-6C73146813E2}"/>
                </a:ext>
              </a:extLst>
            </p:cNvPr>
            <p:cNvSpPr/>
            <p:nvPr/>
          </p:nvSpPr>
          <p:spPr>
            <a:xfrm>
              <a:off x="3301729" y="4201008"/>
              <a:ext cx="1605063" cy="58365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Generator</a:t>
              </a:r>
            </a:p>
          </p:txBody>
        </p:sp>
        <p:sp>
          <p:nvSpPr>
            <p:cNvPr id="13" name="Rechteck: abgerundete Ecken 12">
              <a:extLst>
                <a:ext uri="{FF2B5EF4-FFF2-40B4-BE49-F238E27FC236}">
                  <a16:creationId xmlns:a16="http://schemas.microsoft.com/office/drawing/2014/main" id="{52C3BFFB-D8E7-3A5B-898D-8C700849959B}"/>
                </a:ext>
              </a:extLst>
            </p:cNvPr>
            <p:cNvSpPr/>
            <p:nvPr/>
          </p:nvSpPr>
          <p:spPr>
            <a:xfrm>
              <a:off x="5704460" y="4210615"/>
              <a:ext cx="1605063" cy="58365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ML-Modell</a:t>
              </a:r>
            </a:p>
          </p:txBody>
        </p:sp>
        <p:sp>
          <p:nvSpPr>
            <p:cNvPr id="14" name="Rechteck: abgerundete Ecken 13">
              <a:extLst>
                <a:ext uri="{FF2B5EF4-FFF2-40B4-BE49-F238E27FC236}">
                  <a16:creationId xmlns:a16="http://schemas.microsoft.com/office/drawing/2014/main" id="{635CC7A1-E50C-6F94-89DA-E50D37410C8F}"/>
                </a:ext>
              </a:extLst>
            </p:cNvPr>
            <p:cNvSpPr/>
            <p:nvPr/>
          </p:nvSpPr>
          <p:spPr>
            <a:xfrm>
              <a:off x="8087739" y="4223465"/>
              <a:ext cx="1605063" cy="58365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PostgreSQL</a:t>
              </a:r>
            </a:p>
          </p:txBody>
        </p:sp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00C29BF7-29E3-8180-DAA1-15FD0B9BA55A}"/>
                </a:ext>
              </a:extLst>
            </p:cNvPr>
            <p:cNvSpPr/>
            <p:nvPr/>
          </p:nvSpPr>
          <p:spPr>
            <a:xfrm>
              <a:off x="8102327" y="3137170"/>
              <a:ext cx="1605063" cy="58365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rgbClr val="00B0F0"/>
                  </a:solidFill>
                </a:rPr>
                <a:t>UCM</a:t>
              </a:r>
            </a:p>
          </p:txBody>
        </p:sp>
        <p:sp>
          <p:nvSpPr>
            <p:cNvPr id="16" name="Rechteck: abgerundete Ecken 15">
              <a:extLst>
                <a:ext uri="{FF2B5EF4-FFF2-40B4-BE49-F238E27FC236}">
                  <a16:creationId xmlns:a16="http://schemas.microsoft.com/office/drawing/2014/main" id="{27CB0E46-7028-6760-049A-D37F21F54D8E}"/>
                </a:ext>
              </a:extLst>
            </p:cNvPr>
            <p:cNvSpPr/>
            <p:nvPr/>
          </p:nvSpPr>
          <p:spPr>
            <a:xfrm>
              <a:off x="8102327" y="2050875"/>
              <a:ext cx="1605063" cy="58365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Parser</a:t>
              </a:r>
            </a:p>
          </p:txBody>
        </p:sp>
        <p:sp>
          <p:nvSpPr>
            <p:cNvPr id="17" name="Rechteck: abgerundete Ecken 16">
              <a:extLst>
                <a:ext uri="{FF2B5EF4-FFF2-40B4-BE49-F238E27FC236}">
                  <a16:creationId xmlns:a16="http://schemas.microsoft.com/office/drawing/2014/main" id="{F61D39B3-BBC3-A03F-D4E0-830E7F160B18}"/>
                </a:ext>
              </a:extLst>
            </p:cNvPr>
            <p:cNvSpPr/>
            <p:nvPr/>
          </p:nvSpPr>
          <p:spPr>
            <a:xfrm>
              <a:off x="5704460" y="2050876"/>
              <a:ext cx="1605063" cy="58365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CSV</a:t>
              </a:r>
            </a:p>
          </p:txBody>
        </p:sp>
        <p:sp>
          <p:nvSpPr>
            <p:cNvPr id="18" name="Rechteck: abgerundete Ecken 17">
              <a:extLst>
                <a:ext uri="{FF2B5EF4-FFF2-40B4-BE49-F238E27FC236}">
                  <a16:creationId xmlns:a16="http://schemas.microsoft.com/office/drawing/2014/main" id="{8368BC2A-171E-5135-ED32-B1D7DA1F5341}"/>
                </a:ext>
              </a:extLst>
            </p:cNvPr>
            <p:cNvSpPr/>
            <p:nvPr/>
          </p:nvSpPr>
          <p:spPr>
            <a:xfrm>
              <a:off x="3301729" y="2054119"/>
              <a:ext cx="1605063" cy="58365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Power Query</a:t>
              </a:r>
            </a:p>
          </p:txBody>
        </p:sp>
        <p:cxnSp>
          <p:nvCxnSpPr>
            <p:cNvPr id="20" name="Gerade Verbindung mit Pfeil 19">
              <a:extLst>
                <a:ext uri="{FF2B5EF4-FFF2-40B4-BE49-F238E27FC236}">
                  <a16:creationId xmlns:a16="http://schemas.microsoft.com/office/drawing/2014/main" id="{B284478A-1F4B-7B07-D111-4625231DD147}"/>
                </a:ext>
              </a:extLst>
            </p:cNvPr>
            <p:cNvCxnSpPr>
              <a:cxnSpLocks/>
              <a:stCxn id="9" idx="3"/>
              <a:endCxn id="18" idx="1"/>
            </p:cNvCxnSpPr>
            <p:nvPr/>
          </p:nvCxnSpPr>
          <p:spPr>
            <a:xfrm>
              <a:off x="2504061" y="2342706"/>
              <a:ext cx="797668" cy="32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 Verbindung mit Pfeil 21">
              <a:extLst>
                <a:ext uri="{FF2B5EF4-FFF2-40B4-BE49-F238E27FC236}">
                  <a16:creationId xmlns:a16="http://schemas.microsoft.com/office/drawing/2014/main" id="{68641F35-4ACF-8BD6-4F0D-51B687B53D26}"/>
                </a:ext>
              </a:extLst>
            </p:cNvPr>
            <p:cNvCxnSpPr>
              <a:cxnSpLocks/>
              <a:stCxn id="18" idx="3"/>
              <a:endCxn id="17" idx="1"/>
            </p:cNvCxnSpPr>
            <p:nvPr/>
          </p:nvCxnSpPr>
          <p:spPr>
            <a:xfrm flipV="1">
              <a:off x="4906792" y="2342706"/>
              <a:ext cx="797668" cy="32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 Verbindung mit Pfeil 26">
              <a:extLst>
                <a:ext uri="{FF2B5EF4-FFF2-40B4-BE49-F238E27FC236}">
                  <a16:creationId xmlns:a16="http://schemas.microsoft.com/office/drawing/2014/main" id="{D639DAD4-AB2D-4B8E-B2E5-30E0C84FA762}"/>
                </a:ext>
              </a:extLst>
            </p:cNvPr>
            <p:cNvCxnSpPr>
              <a:cxnSpLocks/>
              <a:stCxn id="17" idx="3"/>
              <a:endCxn id="16" idx="1"/>
            </p:cNvCxnSpPr>
            <p:nvPr/>
          </p:nvCxnSpPr>
          <p:spPr>
            <a:xfrm flipV="1">
              <a:off x="7309523" y="2342705"/>
              <a:ext cx="792804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mit Pfeil 29">
              <a:extLst>
                <a:ext uri="{FF2B5EF4-FFF2-40B4-BE49-F238E27FC236}">
                  <a16:creationId xmlns:a16="http://schemas.microsoft.com/office/drawing/2014/main" id="{C6908256-8EA3-3251-DC37-7064B6B8C5F7}"/>
                </a:ext>
              </a:extLst>
            </p:cNvPr>
            <p:cNvCxnSpPr>
              <a:cxnSpLocks/>
              <a:stCxn id="16" idx="2"/>
              <a:endCxn id="15" idx="0"/>
            </p:cNvCxnSpPr>
            <p:nvPr/>
          </p:nvCxnSpPr>
          <p:spPr>
            <a:xfrm>
              <a:off x="8904859" y="2634534"/>
              <a:ext cx="0" cy="5026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 Verbindung mit Pfeil 34">
              <a:extLst>
                <a:ext uri="{FF2B5EF4-FFF2-40B4-BE49-F238E27FC236}">
                  <a16:creationId xmlns:a16="http://schemas.microsoft.com/office/drawing/2014/main" id="{FED4052D-0BA6-9C66-B1E1-CF5EC48DF68A}"/>
                </a:ext>
              </a:extLst>
            </p:cNvPr>
            <p:cNvCxnSpPr>
              <a:cxnSpLocks/>
              <a:stCxn id="15" idx="2"/>
              <a:endCxn id="14" idx="0"/>
            </p:cNvCxnSpPr>
            <p:nvPr/>
          </p:nvCxnSpPr>
          <p:spPr>
            <a:xfrm flipH="1">
              <a:off x="8890271" y="3720829"/>
              <a:ext cx="14588" cy="5026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 Verbindung mit Pfeil 37">
              <a:extLst>
                <a:ext uri="{FF2B5EF4-FFF2-40B4-BE49-F238E27FC236}">
                  <a16:creationId xmlns:a16="http://schemas.microsoft.com/office/drawing/2014/main" id="{7DB0C2D7-6DD7-1267-9937-D3BE2CD67368}"/>
                </a:ext>
              </a:extLst>
            </p:cNvPr>
            <p:cNvCxnSpPr>
              <a:cxnSpLocks/>
              <a:stCxn id="14" idx="1"/>
              <a:endCxn id="13" idx="3"/>
            </p:cNvCxnSpPr>
            <p:nvPr/>
          </p:nvCxnSpPr>
          <p:spPr>
            <a:xfrm flipH="1" flipV="1">
              <a:off x="7309523" y="4502445"/>
              <a:ext cx="778216" cy="128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 Verbindung mit Pfeil 40">
              <a:extLst>
                <a:ext uri="{FF2B5EF4-FFF2-40B4-BE49-F238E27FC236}">
                  <a16:creationId xmlns:a16="http://schemas.microsoft.com/office/drawing/2014/main" id="{4E8DE355-ED86-3B3D-0A13-29C01ACA81B2}"/>
                </a:ext>
              </a:extLst>
            </p:cNvPr>
            <p:cNvCxnSpPr>
              <a:cxnSpLocks/>
              <a:stCxn id="13" idx="1"/>
              <a:endCxn id="12" idx="3"/>
            </p:cNvCxnSpPr>
            <p:nvPr/>
          </p:nvCxnSpPr>
          <p:spPr>
            <a:xfrm flipH="1" flipV="1">
              <a:off x="4906792" y="4492838"/>
              <a:ext cx="797668" cy="96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 Verbindung mit Pfeil 43">
              <a:extLst>
                <a:ext uri="{FF2B5EF4-FFF2-40B4-BE49-F238E27FC236}">
                  <a16:creationId xmlns:a16="http://schemas.microsoft.com/office/drawing/2014/main" id="{37202E5D-EF7E-ECAC-5230-6C9453F00C2D}"/>
                </a:ext>
              </a:extLst>
            </p:cNvPr>
            <p:cNvCxnSpPr>
              <a:cxnSpLocks/>
              <a:stCxn id="12" idx="1"/>
              <a:endCxn id="11" idx="3"/>
            </p:cNvCxnSpPr>
            <p:nvPr/>
          </p:nvCxnSpPr>
          <p:spPr>
            <a:xfrm flipH="1">
              <a:off x="2499197" y="4492838"/>
              <a:ext cx="8025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Verbinder: gewinkelt 49">
              <a:extLst>
                <a:ext uri="{FF2B5EF4-FFF2-40B4-BE49-F238E27FC236}">
                  <a16:creationId xmlns:a16="http://schemas.microsoft.com/office/drawing/2014/main" id="{F7EFA568-E59A-72A8-644F-A842A7DC2FF4}"/>
                </a:ext>
              </a:extLst>
            </p:cNvPr>
            <p:cNvCxnSpPr>
              <a:cxnSpLocks/>
              <a:stCxn id="13" idx="2"/>
              <a:endCxn id="14" idx="2"/>
            </p:cNvCxnSpPr>
            <p:nvPr/>
          </p:nvCxnSpPr>
          <p:spPr>
            <a:xfrm rot="16200000" flipH="1">
              <a:off x="7692206" y="3609059"/>
              <a:ext cx="12850" cy="2383279"/>
            </a:xfrm>
            <a:prstGeom prst="bentConnector3">
              <a:avLst>
                <a:gd name="adj1" fmla="val 1878988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Verbinder: gewinkelt 51">
              <a:extLst>
                <a:ext uri="{FF2B5EF4-FFF2-40B4-BE49-F238E27FC236}">
                  <a16:creationId xmlns:a16="http://schemas.microsoft.com/office/drawing/2014/main" id="{0A78951E-3F92-8007-7C99-29AE85517AA0}"/>
                </a:ext>
              </a:extLst>
            </p:cNvPr>
            <p:cNvCxnSpPr>
              <a:cxnSpLocks/>
              <a:stCxn id="14" idx="3"/>
              <a:endCxn id="12" idx="2"/>
            </p:cNvCxnSpPr>
            <p:nvPr/>
          </p:nvCxnSpPr>
          <p:spPr>
            <a:xfrm flipH="1">
              <a:off x="4104261" y="4515295"/>
              <a:ext cx="5588541" cy="269372"/>
            </a:xfrm>
            <a:prstGeom prst="bentConnector4">
              <a:avLst>
                <a:gd name="adj1" fmla="val -4091"/>
                <a:gd name="adj2" fmla="val 301538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Legende: mit gebogener Linie 62">
              <a:extLst>
                <a:ext uri="{FF2B5EF4-FFF2-40B4-BE49-F238E27FC236}">
                  <a16:creationId xmlns:a16="http://schemas.microsoft.com/office/drawing/2014/main" id="{51B5022A-50A6-1321-2E0D-C755519684C8}"/>
                </a:ext>
              </a:extLst>
            </p:cNvPr>
            <p:cNvSpPr/>
            <p:nvPr/>
          </p:nvSpPr>
          <p:spPr>
            <a:xfrm>
              <a:off x="10140274" y="3541543"/>
              <a:ext cx="1575887" cy="1108438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61599"/>
                <a:gd name="adj6" fmla="val -64975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sz="1400" dirty="0"/>
                <a:t>UCM-Daten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sz="1400" dirty="0"/>
                <a:t>Modellhistorie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sz="1400" dirty="0"/>
                <a:t>Prognosen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6693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4">
            <a:extLst>
              <a:ext uri="{FF2B5EF4-FFF2-40B4-BE49-F238E27FC236}">
                <a16:creationId xmlns:a16="http://schemas.microsoft.com/office/drawing/2014/main" id="{315AD93E-2F78-C950-A834-ED4BDA3F1802}"/>
              </a:ext>
            </a:extLst>
          </p:cNvPr>
          <p:cNvSpPr txBox="1">
            <a:spLocks/>
          </p:cNvSpPr>
          <p:nvPr/>
        </p:nvSpPr>
        <p:spPr>
          <a:xfrm>
            <a:off x="-1" y="21550"/>
            <a:ext cx="12192000" cy="99542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de-DE" dirty="0"/>
              <a:t>Datenaufbereitung mit Power Query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F6768BE-C752-6F1B-AD7A-0006E36F590F}"/>
              </a:ext>
            </a:extLst>
          </p:cNvPr>
          <p:cNvSpPr txBox="1"/>
          <p:nvPr/>
        </p:nvSpPr>
        <p:spPr>
          <a:xfrm>
            <a:off x="1" y="5978565"/>
            <a:ext cx="12191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>
                <a:solidFill>
                  <a:srgbClr val="00B0F0"/>
                </a:solidFill>
              </a:rPr>
              <a:t>Rohdaten aus verschiedenen Quellen werden in ein einheitliches CSV-Format überführt.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0F0B712-3985-65CB-7A4A-56B2B6A89D2F}"/>
              </a:ext>
            </a:extLst>
          </p:cNvPr>
          <p:cNvSpPr txBox="1"/>
          <p:nvPr/>
        </p:nvSpPr>
        <p:spPr>
          <a:xfrm>
            <a:off x="5359804" y="1925685"/>
            <a:ext cx="467251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Import aus unterschiedlichen Datenquellen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Bereinigung und Vereinheitlichung der Spalten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Extraktion von Kabelbezeichnung, Preis, Datum und Quelle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Export je Hersteller als CSV-Datei</a:t>
            </a:r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D65AB6C4-8D07-A7EC-147E-D2E882BB6C68}"/>
              </a:ext>
            </a:extLst>
          </p:cNvPr>
          <p:cNvGrpSpPr/>
          <p:nvPr/>
        </p:nvGrpSpPr>
        <p:grpSpPr>
          <a:xfrm>
            <a:off x="739303" y="1925685"/>
            <a:ext cx="2097122" cy="3642105"/>
            <a:chOff x="1881490" y="1685845"/>
            <a:chExt cx="2097122" cy="3642105"/>
          </a:xfrm>
        </p:grpSpPr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5ACCEE88-8128-DCCA-F750-E334B3845AEE}"/>
                </a:ext>
              </a:extLst>
            </p:cNvPr>
            <p:cNvSpPr/>
            <p:nvPr/>
          </p:nvSpPr>
          <p:spPr>
            <a:xfrm>
              <a:off x="2007950" y="1685845"/>
              <a:ext cx="1844202" cy="58365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Excel / PDF / CSV</a:t>
              </a:r>
            </a:p>
          </p:txBody>
        </p:sp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67D5D27A-5017-9E68-A723-6351B9DB8044}"/>
                </a:ext>
              </a:extLst>
            </p:cNvPr>
            <p:cNvSpPr/>
            <p:nvPr/>
          </p:nvSpPr>
          <p:spPr>
            <a:xfrm>
              <a:off x="2007950" y="2704911"/>
              <a:ext cx="1844202" cy="58365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Power Query</a:t>
              </a:r>
            </a:p>
          </p:txBody>
        </p:sp>
        <p:sp>
          <p:nvSpPr>
            <p:cNvPr id="13" name="Rechteck: abgerundete Ecken 12">
              <a:extLst>
                <a:ext uri="{FF2B5EF4-FFF2-40B4-BE49-F238E27FC236}">
                  <a16:creationId xmlns:a16="http://schemas.microsoft.com/office/drawing/2014/main" id="{533E1927-C3B8-39FE-4185-A8CAC2B48FB5}"/>
                </a:ext>
              </a:extLst>
            </p:cNvPr>
            <p:cNvSpPr/>
            <p:nvPr/>
          </p:nvSpPr>
          <p:spPr>
            <a:xfrm>
              <a:off x="1881490" y="4744291"/>
              <a:ext cx="2097122" cy="58365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Herstellerbezogene </a:t>
              </a:r>
              <a:endParaRPr lang="ru-RU" dirty="0"/>
            </a:p>
            <a:p>
              <a:pPr algn="ctr"/>
              <a:r>
                <a:rPr lang="de-DE" dirty="0"/>
                <a:t>CSV-Dateien</a:t>
              </a:r>
            </a:p>
          </p:txBody>
        </p:sp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3319ED1C-0B7D-8D5F-C63B-DBC919A9C7A0}"/>
                </a:ext>
              </a:extLst>
            </p:cNvPr>
            <p:cNvCxnSpPr>
              <a:cxnSpLocks/>
              <a:stCxn id="9" idx="2"/>
              <a:endCxn id="12" idx="0"/>
            </p:cNvCxnSpPr>
            <p:nvPr/>
          </p:nvCxnSpPr>
          <p:spPr>
            <a:xfrm>
              <a:off x="2930051" y="2269504"/>
              <a:ext cx="0" cy="4354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mit Pfeil 17">
              <a:extLst>
                <a:ext uri="{FF2B5EF4-FFF2-40B4-BE49-F238E27FC236}">
                  <a16:creationId xmlns:a16="http://schemas.microsoft.com/office/drawing/2014/main" id="{CB15762D-DA2A-5CB4-CB7E-2834618C9805}"/>
                </a:ext>
              </a:extLst>
            </p:cNvPr>
            <p:cNvCxnSpPr>
              <a:cxnSpLocks/>
              <a:stCxn id="12" idx="2"/>
              <a:endCxn id="24" idx="0"/>
            </p:cNvCxnSpPr>
            <p:nvPr/>
          </p:nvCxnSpPr>
          <p:spPr>
            <a:xfrm>
              <a:off x="2930051" y="3288570"/>
              <a:ext cx="0" cy="4360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hteck: abgerundete Ecken 23">
              <a:extLst>
                <a:ext uri="{FF2B5EF4-FFF2-40B4-BE49-F238E27FC236}">
                  <a16:creationId xmlns:a16="http://schemas.microsoft.com/office/drawing/2014/main" id="{12D81999-57D0-9FE4-24A5-9B5F63AFECDF}"/>
                </a:ext>
              </a:extLst>
            </p:cNvPr>
            <p:cNvSpPr/>
            <p:nvPr/>
          </p:nvSpPr>
          <p:spPr>
            <a:xfrm>
              <a:off x="2007950" y="3724601"/>
              <a:ext cx="1844202" cy="58365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VBA Export</a:t>
              </a:r>
            </a:p>
          </p:txBody>
        </p:sp>
        <p:cxnSp>
          <p:nvCxnSpPr>
            <p:cNvPr id="27" name="Gerade Verbindung mit Pfeil 26">
              <a:extLst>
                <a:ext uri="{FF2B5EF4-FFF2-40B4-BE49-F238E27FC236}">
                  <a16:creationId xmlns:a16="http://schemas.microsoft.com/office/drawing/2014/main" id="{76698680-B893-58E0-7980-86B98D01867B}"/>
                </a:ext>
              </a:extLst>
            </p:cNvPr>
            <p:cNvCxnSpPr>
              <a:cxnSpLocks/>
              <a:stCxn id="24" idx="2"/>
              <a:endCxn id="13" idx="0"/>
            </p:cNvCxnSpPr>
            <p:nvPr/>
          </p:nvCxnSpPr>
          <p:spPr>
            <a:xfrm>
              <a:off x="2930051" y="4308260"/>
              <a:ext cx="0" cy="4360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1" name="Tabelle 30">
            <a:extLst>
              <a:ext uri="{FF2B5EF4-FFF2-40B4-BE49-F238E27FC236}">
                <a16:creationId xmlns:a16="http://schemas.microsoft.com/office/drawing/2014/main" id="{A9591403-8262-703E-5CBA-7FA7D8FB3D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811439"/>
              </p:ext>
            </p:extLst>
          </p:nvPr>
        </p:nvGraphicFramePr>
        <p:xfrm>
          <a:off x="3513171" y="4251825"/>
          <a:ext cx="8365786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896">
                  <a:extLst>
                    <a:ext uri="{9D8B030D-6E8A-4147-A177-3AD203B41FA5}">
                      <a16:colId xmlns:a16="http://schemas.microsoft.com/office/drawing/2014/main" val="1702273829"/>
                    </a:ext>
                  </a:extLst>
                </a:gridCol>
                <a:gridCol w="1271452">
                  <a:extLst>
                    <a:ext uri="{9D8B030D-6E8A-4147-A177-3AD203B41FA5}">
                      <a16:colId xmlns:a16="http://schemas.microsoft.com/office/drawing/2014/main" val="3283283597"/>
                    </a:ext>
                  </a:extLst>
                </a:gridCol>
                <a:gridCol w="3473460">
                  <a:extLst>
                    <a:ext uri="{9D8B030D-6E8A-4147-A177-3AD203B41FA5}">
                      <a16:colId xmlns:a16="http://schemas.microsoft.com/office/drawing/2014/main" val="1777043525"/>
                    </a:ext>
                  </a:extLst>
                </a:gridCol>
                <a:gridCol w="1768978">
                  <a:extLst>
                    <a:ext uri="{9D8B030D-6E8A-4147-A177-3AD203B41FA5}">
                      <a16:colId xmlns:a16="http://schemas.microsoft.com/office/drawing/2014/main" val="3269003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Source 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Cable Designation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Price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2911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/>
                        <a:t>15.07.2021_ATOMKIP-KU_demo.csv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15.07.2021</a:t>
                      </a:r>
                      <a:endParaRPr lang="de-D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ATOMKIP-</a:t>
                      </a:r>
                      <a:r>
                        <a:rPr lang="de-DE" sz="1400" dirty="0" err="1"/>
                        <a:t>KUVOfVng</a:t>
                      </a:r>
                      <a:r>
                        <a:rPr lang="de-DE" sz="1400" dirty="0"/>
                        <a:t>(A)-LS 4x2x1,5kl5 690V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/>
                        <a:t>416</a:t>
                      </a:r>
                      <a:r>
                        <a:rPr lang="ru-RU" sz="1400" dirty="0"/>
                        <a:t> </a:t>
                      </a:r>
                      <a:r>
                        <a:rPr lang="de-DE" sz="1400" dirty="0"/>
                        <a:t>891,14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0843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05581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4">
            <a:extLst>
              <a:ext uri="{FF2B5EF4-FFF2-40B4-BE49-F238E27FC236}">
                <a16:creationId xmlns:a16="http://schemas.microsoft.com/office/drawing/2014/main" id="{6F0C460C-FA77-340C-5E93-3072565282D6}"/>
              </a:ext>
            </a:extLst>
          </p:cNvPr>
          <p:cNvSpPr txBox="1">
            <a:spLocks/>
          </p:cNvSpPr>
          <p:nvPr/>
        </p:nvSpPr>
        <p:spPr>
          <a:xfrm>
            <a:off x="-1" y="21550"/>
            <a:ext cx="12192000" cy="99542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de-DE" dirty="0"/>
              <a:t>Parser: Herstellerbezeichnung → UCM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A3440AE-5BE1-E8A7-29B8-F5701038AD26}"/>
              </a:ext>
            </a:extLst>
          </p:cNvPr>
          <p:cNvSpPr txBox="1"/>
          <p:nvPr/>
        </p:nvSpPr>
        <p:spPr>
          <a:xfrm>
            <a:off x="1" y="5978565"/>
            <a:ext cx="12191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>
                <a:solidFill>
                  <a:srgbClr val="00B0F0"/>
                </a:solidFill>
              </a:rPr>
              <a:t>Herstellerspezifische Kabelbezeichnungen werden in standardisierte technische Merkmale zerlegt.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D9E8C00-532A-F840-0CD2-39999FD3A2D8}"/>
              </a:ext>
            </a:extLst>
          </p:cNvPr>
          <p:cNvSpPr txBox="1"/>
          <p:nvPr/>
        </p:nvSpPr>
        <p:spPr>
          <a:xfrm>
            <a:off x="8075176" y="1950126"/>
            <a:ext cx="38748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Herstellerregeln werden in Parser-Logik umgesetzt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Unterstützung von kyrillischen und transliterierten Bezeichnungen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Ausgabe als strukturierter UCM-Datensatz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Grundlage für Preisprognose und Generatoren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118BBEA6-06D2-9190-FEAE-4E11857CC636}"/>
              </a:ext>
            </a:extLst>
          </p:cNvPr>
          <p:cNvSpPr/>
          <p:nvPr/>
        </p:nvSpPr>
        <p:spPr>
          <a:xfrm>
            <a:off x="1243116" y="1016973"/>
            <a:ext cx="2723744" cy="58365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00B0F0"/>
                </a:solidFill>
              </a:rPr>
              <a:t>ATOMKIP-</a:t>
            </a:r>
            <a:r>
              <a:rPr lang="de-DE" dirty="0" err="1">
                <a:solidFill>
                  <a:srgbClr val="00B0F0"/>
                </a:solidFill>
              </a:rPr>
              <a:t>KUVOfVng</a:t>
            </a:r>
            <a:r>
              <a:rPr lang="de-DE" dirty="0">
                <a:solidFill>
                  <a:srgbClr val="00B0F0"/>
                </a:solidFill>
              </a:rPr>
              <a:t>(A)-LS 4x2x1,5kl5 690V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92C7A4DF-5864-793F-5FA6-7F18F785521C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2604988" y="1600632"/>
            <a:ext cx="0" cy="349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606BACE2-156C-BF28-F6D9-8B5554CE4C36}"/>
              </a:ext>
            </a:extLst>
          </p:cNvPr>
          <p:cNvSpPr/>
          <p:nvPr/>
        </p:nvSpPr>
        <p:spPr>
          <a:xfrm>
            <a:off x="1682887" y="1950126"/>
            <a:ext cx="1844202" cy="58365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Parser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FF96F847-BE91-7663-87FD-5BED821A4DE0}"/>
              </a:ext>
            </a:extLst>
          </p:cNvPr>
          <p:cNvSpPr/>
          <p:nvPr/>
        </p:nvSpPr>
        <p:spPr>
          <a:xfrm>
            <a:off x="926967" y="2883279"/>
            <a:ext cx="3356041" cy="246109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dirty="0">
                <a:solidFill>
                  <a:srgbClr val="00B0F0"/>
                </a:solidFill>
              </a:rPr>
              <a:t>UCM Features</a:t>
            </a:r>
          </a:p>
          <a:p>
            <a:r>
              <a:rPr lang="de-DE" dirty="0"/>
              <a:t>Kabelserie: ATOMKIP-KU</a:t>
            </a:r>
          </a:p>
          <a:p>
            <a:r>
              <a:rPr lang="de-DE" dirty="0"/>
              <a:t>Isolierung: PVC</a:t>
            </a:r>
          </a:p>
          <a:p>
            <a:r>
              <a:rPr lang="de-DE" dirty="0"/>
              <a:t>Gesamtschirm: Aluminiumfolie</a:t>
            </a:r>
          </a:p>
          <a:p>
            <a:r>
              <a:rPr lang="de-DE" dirty="0"/>
              <a:t>Gruppen: 4</a:t>
            </a:r>
          </a:p>
          <a:p>
            <a:r>
              <a:rPr lang="de-DE" dirty="0"/>
              <a:t>Gruppentyp: Paar</a:t>
            </a:r>
          </a:p>
          <a:p>
            <a:r>
              <a:rPr lang="de-DE" dirty="0"/>
              <a:t>Querschnitt: 1,5 mm²</a:t>
            </a:r>
          </a:p>
          <a:p>
            <a:r>
              <a:rPr lang="de-DE" dirty="0"/>
              <a:t>Nennspannung: 690 V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C99A912C-80C4-D1F0-6BDE-5493CF1C25F5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2604988" y="2533785"/>
            <a:ext cx="0" cy="349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E3CE8F63-84AB-1324-226B-0D37B515558E}"/>
              </a:ext>
            </a:extLst>
          </p:cNvPr>
          <p:cNvSpPr/>
          <p:nvPr/>
        </p:nvSpPr>
        <p:spPr>
          <a:xfrm>
            <a:off x="4869102" y="1016973"/>
            <a:ext cx="2723744" cy="58365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CONFLEX </a:t>
            </a:r>
            <a:r>
              <a:rPr lang="en-US" dirty="0" err="1">
                <a:solidFill>
                  <a:srgbClr val="00B0F0"/>
                </a:solidFill>
              </a:rPr>
              <a:t>MKefShVng</a:t>
            </a:r>
            <a:r>
              <a:rPr lang="en-US" dirty="0">
                <a:solidFill>
                  <a:srgbClr val="00B0F0"/>
                </a:solidFill>
              </a:rPr>
              <a:t>(A)-LS 4x2x1,5 660V</a:t>
            </a:r>
            <a:endParaRPr lang="de-DE" dirty="0">
              <a:solidFill>
                <a:srgbClr val="00B0F0"/>
              </a:solidFill>
            </a:endParaRP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55E7600C-F231-0171-F7E7-3B1427F56706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>
            <a:off x="6230974" y="1600632"/>
            <a:ext cx="0" cy="349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3C644556-E12D-295A-505B-38FC5AA6C0A8}"/>
              </a:ext>
            </a:extLst>
          </p:cNvPr>
          <p:cNvSpPr/>
          <p:nvPr/>
        </p:nvSpPr>
        <p:spPr>
          <a:xfrm>
            <a:off x="5308873" y="1950126"/>
            <a:ext cx="1844202" cy="58365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Parser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BC777CC6-CDCA-D9E1-635A-981CCE758EFA}"/>
              </a:ext>
            </a:extLst>
          </p:cNvPr>
          <p:cNvSpPr/>
          <p:nvPr/>
        </p:nvSpPr>
        <p:spPr>
          <a:xfrm>
            <a:off x="4552953" y="2883279"/>
            <a:ext cx="3356041" cy="246109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dirty="0">
                <a:solidFill>
                  <a:srgbClr val="00B0F0"/>
                </a:solidFill>
              </a:rPr>
              <a:t>UCM Features</a:t>
            </a:r>
          </a:p>
          <a:p>
            <a:r>
              <a:rPr lang="de-DE" dirty="0"/>
              <a:t>Kabelserie: CONFLEX</a:t>
            </a:r>
          </a:p>
          <a:p>
            <a:r>
              <a:rPr lang="de-DE" dirty="0"/>
              <a:t>Isolierung: PVC</a:t>
            </a:r>
          </a:p>
          <a:p>
            <a:r>
              <a:rPr lang="de-DE" dirty="0"/>
              <a:t>Gesamtschirm: Aluminiumfolie</a:t>
            </a:r>
          </a:p>
          <a:p>
            <a:r>
              <a:rPr lang="de-DE" dirty="0"/>
              <a:t>Gruppen: 4</a:t>
            </a:r>
          </a:p>
          <a:p>
            <a:r>
              <a:rPr lang="de-DE" dirty="0"/>
              <a:t>Gruppentyp: Paar</a:t>
            </a:r>
          </a:p>
          <a:p>
            <a:r>
              <a:rPr lang="de-DE" dirty="0"/>
              <a:t>Querschnitt: 1,5 mm²</a:t>
            </a:r>
          </a:p>
          <a:p>
            <a:r>
              <a:rPr lang="de-DE" dirty="0"/>
              <a:t>Nennspannung: 660 V</a:t>
            </a: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2172B0B6-625D-7DB6-1242-D526C6D1F922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6230974" y="2533785"/>
            <a:ext cx="0" cy="349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65040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4">
            <a:extLst>
              <a:ext uri="{FF2B5EF4-FFF2-40B4-BE49-F238E27FC236}">
                <a16:creationId xmlns:a16="http://schemas.microsoft.com/office/drawing/2014/main" id="{9EDCE566-3B56-D84F-AC1D-35E35807170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00247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de-DE" dirty="0"/>
              <a:t>Universal Cable Model (UCM)</a:t>
            </a:r>
          </a:p>
          <a:p>
            <a:pPr algn="ctr"/>
            <a:r>
              <a:rPr lang="de-DE" sz="3500" dirty="0"/>
              <a:t>Unterstützte Herstellerbezeichnungen: ATOMKIP-KU, CONFLEX, TOFLEX, MK</a:t>
            </a: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EAD1934-38C3-A950-627B-B45B6B993024}"/>
              </a:ext>
            </a:extLst>
          </p:cNvPr>
          <p:cNvSpPr txBox="1"/>
          <p:nvPr/>
        </p:nvSpPr>
        <p:spPr>
          <a:xfrm>
            <a:off x="1" y="5978565"/>
            <a:ext cx="12191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>
                <a:solidFill>
                  <a:srgbClr val="00B0F0"/>
                </a:solidFill>
              </a:rPr>
              <a:t>Das UCM entkoppelt technische Kabelkonstruktionen von herstellerspezifischen Bezeichnungen.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0241B6A-D135-DB32-CC2B-8E314BAA0953}"/>
              </a:ext>
            </a:extLst>
          </p:cNvPr>
          <p:cNvSpPr txBox="1"/>
          <p:nvPr/>
        </p:nvSpPr>
        <p:spPr>
          <a:xfrm>
            <a:off x="7987627" y="1950126"/>
            <a:ext cx="38748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Einheitliche technische Sprache für verschiedene Hersteller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Grundlage für Vergleich, Preisprognose und Generierung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Erweiterbar für neue Hersteller und neue Konstruktionsmerkmale</a:t>
            </a: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F80805A1-182C-E6F4-8D3E-5897B7CD5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766128"/>
              </p:ext>
            </p:extLst>
          </p:nvPr>
        </p:nvGraphicFramePr>
        <p:xfrm>
          <a:off x="574268" y="1950126"/>
          <a:ext cx="6948928" cy="2291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81636">
                  <a:extLst>
                    <a:ext uri="{9D8B030D-6E8A-4147-A177-3AD203B41FA5}">
                      <a16:colId xmlns:a16="http://schemas.microsoft.com/office/drawing/2014/main" val="616607763"/>
                    </a:ext>
                  </a:extLst>
                </a:gridCol>
                <a:gridCol w="5167292">
                  <a:extLst>
                    <a:ext uri="{9D8B030D-6E8A-4147-A177-3AD203B41FA5}">
                      <a16:colId xmlns:a16="http://schemas.microsoft.com/office/drawing/2014/main" val="31375421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Konstruktion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Leiter, Isolierung, Schirme, Füllung, Armierung, Mantel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4582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Geometrie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Gruppen, Gruppentyp, Querschnitt, Gesamtleiterzahl, Kupferfläche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2408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Eigenschaften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FR, LS, </a:t>
                      </a:r>
                      <a:r>
                        <a:rPr lang="de-DE" dirty="0" err="1"/>
                        <a:t>LTx</a:t>
                      </a:r>
                      <a:r>
                        <a:rPr lang="de-DE" dirty="0"/>
                        <a:t>, HF, UV, Ölbeständigkeit, Kältebeständigkeit, Wasserblockierung, 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987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Elektrik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Eigensicherheit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9623406"/>
                  </a:ext>
                </a:extLst>
              </a:tr>
            </a:tbl>
          </a:graphicData>
        </a:graphic>
      </p:graphicFrame>
      <p:sp>
        <p:nvSpPr>
          <p:cNvPr id="9" name="Textfeld 8">
            <a:extLst>
              <a:ext uri="{FF2B5EF4-FFF2-40B4-BE49-F238E27FC236}">
                <a16:creationId xmlns:a16="http://schemas.microsoft.com/office/drawing/2014/main" id="{1CF1CA8A-7C9F-A724-EE50-B0E9972B907F}"/>
              </a:ext>
            </a:extLst>
          </p:cNvPr>
          <p:cNvSpPr txBox="1"/>
          <p:nvPr/>
        </p:nvSpPr>
        <p:spPr>
          <a:xfrm>
            <a:off x="3048811" y="4652100"/>
            <a:ext cx="60943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400" b="1" dirty="0"/>
              <a:t>Das UCM umfasst 29 technische Merkmale:</a:t>
            </a:r>
            <a:br>
              <a:rPr lang="de-DE" sz="2400" dirty="0"/>
            </a:br>
            <a:r>
              <a:rPr lang="de-DE" sz="2400" b="1" dirty="0"/>
              <a:t>27 Grundmerkmale + 2 berechnete Merkmale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3515921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4">
            <a:extLst>
              <a:ext uri="{FF2B5EF4-FFF2-40B4-BE49-F238E27FC236}">
                <a16:creationId xmlns:a16="http://schemas.microsoft.com/office/drawing/2014/main" id="{F68E84E6-3D4A-F364-3F73-0AC447C469FF}"/>
              </a:ext>
            </a:extLst>
          </p:cNvPr>
          <p:cNvSpPr txBox="1">
            <a:spLocks/>
          </p:cNvSpPr>
          <p:nvPr/>
        </p:nvSpPr>
        <p:spPr>
          <a:xfrm>
            <a:off x="-1" y="21550"/>
            <a:ext cx="12192000" cy="99542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de-DE" dirty="0"/>
              <a:t>PostgreSQL als zentraler Datenspeicher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E17D917-BFC2-04E4-F6B2-00050A754070}"/>
              </a:ext>
            </a:extLst>
          </p:cNvPr>
          <p:cNvSpPr txBox="1"/>
          <p:nvPr/>
        </p:nvSpPr>
        <p:spPr>
          <a:xfrm>
            <a:off x="1" y="5978565"/>
            <a:ext cx="12191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>
                <a:solidFill>
                  <a:srgbClr val="00B0F0"/>
                </a:solidFill>
              </a:rPr>
              <a:t>PostgreSQL speichert standardisierte Kabeldaten, Modellläufe und Prognoseergebnisse.</a:t>
            </a:r>
          </a:p>
        </p:txBody>
      </p: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EAB5C559-950C-FBE6-5C92-384ABAE4CB27}"/>
              </a:ext>
            </a:extLst>
          </p:cNvPr>
          <p:cNvGrpSpPr/>
          <p:nvPr/>
        </p:nvGrpSpPr>
        <p:grpSpPr>
          <a:xfrm>
            <a:off x="437746" y="1343320"/>
            <a:ext cx="6396746" cy="3882571"/>
            <a:chOff x="272376" y="625333"/>
            <a:chExt cx="6396746" cy="3882571"/>
          </a:xfrm>
        </p:grpSpPr>
        <p:sp>
          <p:nvSpPr>
            <p:cNvPr id="7" name="Rechteck: abgerundete Ecken 6">
              <a:extLst>
                <a:ext uri="{FF2B5EF4-FFF2-40B4-BE49-F238E27FC236}">
                  <a16:creationId xmlns:a16="http://schemas.microsoft.com/office/drawing/2014/main" id="{40FF6CD2-DB65-5B7F-4624-A113CB02083D}"/>
                </a:ext>
              </a:extLst>
            </p:cNvPr>
            <p:cNvSpPr/>
            <p:nvPr/>
          </p:nvSpPr>
          <p:spPr>
            <a:xfrm>
              <a:off x="272376" y="1869926"/>
              <a:ext cx="1844202" cy="58365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UCM-Daten</a:t>
              </a:r>
            </a:p>
          </p:txBody>
        </p:sp>
        <p:sp>
          <p:nvSpPr>
            <p:cNvPr id="8" name="Rechteck: abgerundete Ecken 7">
              <a:extLst>
                <a:ext uri="{FF2B5EF4-FFF2-40B4-BE49-F238E27FC236}">
                  <a16:creationId xmlns:a16="http://schemas.microsoft.com/office/drawing/2014/main" id="{87D04A01-3076-B492-98D3-DA72BE8996B2}"/>
                </a:ext>
              </a:extLst>
            </p:cNvPr>
            <p:cNvSpPr/>
            <p:nvPr/>
          </p:nvSpPr>
          <p:spPr>
            <a:xfrm>
              <a:off x="2548648" y="1869926"/>
              <a:ext cx="1844202" cy="58365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PostgreSQL</a:t>
              </a:r>
            </a:p>
          </p:txBody>
        </p:sp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85192558-928B-5EBF-D78D-9C62E4DCC6FC}"/>
                </a:ext>
              </a:extLst>
            </p:cNvPr>
            <p:cNvSpPr/>
            <p:nvPr/>
          </p:nvSpPr>
          <p:spPr>
            <a:xfrm>
              <a:off x="4824920" y="1869926"/>
              <a:ext cx="1844202" cy="58365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ML-Model</a:t>
              </a:r>
            </a:p>
          </p:txBody>
        </p:sp>
        <p:cxnSp>
          <p:nvCxnSpPr>
            <p:cNvPr id="31" name="Gerade Verbindung mit Pfeil 30">
              <a:extLst>
                <a:ext uri="{FF2B5EF4-FFF2-40B4-BE49-F238E27FC236}">
                  <a16:creationId xmlns:a16="http://schemas.microsoft.com/office/drawing/2014/main" id="{3142B057-E93B-A4C7-13C5-73179A524ABF}"/>
                </a:ext>
              </a:extLst>
            </p:cNvPr>
            <p:cNvCxnSpPr>
              <a:stCxn id="7" idx="3"/>
              <a:endCxn id="8" idx="1"/>
            </p:cNvCxnSpPr>
            <p:nvPr/>
          </p:nvCxnSpPr>
          <p:spPr>
            <a:xfrm>
              <a:off x="2116578" y="2161756"/>
              <a:ext cx="43207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hteck: abgerundete Ecken 35">
              <a:extLst>
                <a:ext uri="{FF2B5EF4-FFF2-40B4-BE49-F238E27FC236}">
                  <a16:creationId xmlns:a16="http://schemas.microsoft.com/office/drawing/2014/main" id="{E587C024-10CF-6415-BF88-5CD6A5D3B3BE}"/>
                </a:ext>
              </a:extLst>
            </p:cNvPr>
            <p:cNvSpPr/>
            <p:nvPr/>
          </p:nvSpPr>
          <p:spPr>
            <a:xfrm>
              <a:off x="1381532" y="2897085"/>
              <a:ext cx="1844202" cy="58365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Generator</a:t>
              </a:r>
            </a:p>
          </p:txBody>
        </p:sp>
        <p:sp>
          <p:nvSpPr>
            <p:cNvPr id="46" name="Rechteck: abgerundete Ecken 45">
              <a:extLst>
                <a:ext uri="{FF2B5EF4-FFF2-40B4-BE49-F238E27FC236}">
                  <a16:creationId xmlns:a16="http://schemas.microsoft.com/office/drawing/2014/main" id="{427CCCF0-A490-D298-25AC-131C63972A6F}"/>
                </a:ext>
              </a:extLst>
            </p:cNvPr>
            <p:cNvSpPr/>
            <p:nvPr/>
          </p:nvSpPr>
          <p:spPr>
            <a:xfrm>
              <a:off x="2548648" y="3924245"/>
              <a:ext cx="1844202" cy="58365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Prognosehistorie</a:t>
              </a:r>
            </a:p>
          </p:txBody>
        </p:sp>
        <p:sp>
          <p:nvSpPr>
            <p:cNvPr id="56" name="Rechteck: abgerundete Ecken 55">
              <a:extLst>
                <a:ext uri="{FF2B5EF4-FFF2-40B4-BE49-F238E27FC236}">
                  <a16:creationId xmlns:a16="http://schemas.microsoft.com/office/drawing/2014/main" id="{F856A1F3-EA6D-5298-FAB3-2AF6DC775F57}"/>
                </a:ext>
              </a:extLst>
            </p:cNvPr>
            <p:cNvSpPr/>
            <p:nvPr/>
          </p:nvSpPr>
          <p:spPr>
            <a:xfrm>
              <a:off x="3686784" y="2975929"/>
              <a:ext cx="1844202" cy="58365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Modelhistorie</a:t>
              </a:r>
            </a:p>
          </p:txBody>
        </p:sp>
        <p:cxnSp>
          <p:nvCxnSpPr>
            <p:cNvPr id="57" name="Gerade Verbindung mit Pfeil 56">
              <a:extLst>
                <a:ext uri="{FF2B5EF4-FFF2-40B4-BE49-F238E27FC236}">
                  <a16:creationId xmlns:a16="http://schemas.microsoft.com/office/drawing/2014/main" id="{72963E4C-A641-686D-CBE3-A599E363B81C}"/>
                </a:ext>
              </a:extLst>
            </p:cNvPr>
            <p:cNvCxnSpPr>
              <a:cxnSpLocks/>
              <a:stCxn id="8" idx="3"/>
              <a:endCxn id="12" idx="1"/>
            </p:cNvCxnSpPr>
            <p:nvPr/>
          </p:nvCxnSpPr>
          <p:spPr>
            <a:xfrm>
              <a:off x="4392850" y="2161756"/>
              <a:ext cx="43207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 Verbindung mit Pfeil 59">
              <a:extLst>
                <a:ext uri="{FF2B5EF4-FFF2-40B4-BE49-F238E27FC236}">
                  <a16:creationId xmlns:a16="http://schemas.microsoft.com/office/drawing/2014/main" id="{E0D830E7-0DCF-7E37-F1CF-43798AB67373}"/>
                </a:ext>
              </a:extLst>
            </p:cNvPr>
            <p:cNvCxnSpPr>
              <a:cxnSpLocks/>
              <a:stCxn id="12" idx="2"/>
              <a:endCxn id="56" idx="0"/>
            </p:cNvCxnSpPr>
            <p:nvPr/>
          </p:nvCxnSpPr>
          <p:spPr>
            <a:xfrm flipH="1">
              <a:off x="4608885" y="2453585"/>
              <a:ext cx="1138136" cy="5223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Rechteck: abgerundete Ecken 72">
              <a:extLst>
                <a:ext uri="{FF2B5EF4-FFF2-40B4-BE49-F238E27FC236}">
                  <a16:creationId xmlns:a16="http://schemas.microsoft.com/office/drawing/2014/main" id="{93A4AAEE-F330-D42E-1475-510A2B1F5082}"/>
                </a:ext>
              </a:extLst>
            </p:cNvPr>
            <p:cNvSpPr/>
            <p:nvPr/>
          </p:nvSpPr>
          <p:spPr>
            <a:xfrm>
              <a:off x="2548648" y="625333"/>
              <a:ext cx="1844202" cy="58365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Power BI / Streamlit</a:t>
              </a:r>
            </a:p>
          </p:txBody>
        </p:sp>
        <p:cxnSp>
          <p:nvCxnSpPr>
            <p:cNvPr id="74" name="Gerade Verbindung mit Pfeil 73">
              <a:extLst>
                <a:ext uri="{FF2B5EF4-FFF2-40B4-BE49-F238E27FC236}">
                  <a16:creationId xmlns:a16="http://schemas.microsoft.com/office/drawing/2014/main" id="{C0C80407-6898-8794-4FA4-24E9073D14B8}"/>
                </a:ext>
              </a:extLst>
            </p:cNvPr>
            <p:cNvCxnSpPr>
              <a:cxnSpLocks/>
              <a:stCxn id="8" idx="0"/>
              <a:endCxn id="73" idx="2"/>
            </p:cNvCxnSpPr>
            <p:nvPr/>
          </p:nvCxnSpPr>
          <p:spPr>
            <a:xfrm flipV="1">
              <a:off x="3470749" y="1208992"/>
              <a:ext cx="0" cy="6609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Gerade Verbindung mit Pfeil 83">
              <a:extLst>
                <a:ext uri="{FF2B5EF4-FFF2-40B4-BE49-F238E27FC236}">
                  <a16:creationId xmlns:a16="http://schemas.microsoft.com/office/drawing/2014/main" id="{A11900AB-FBBE-D2D5-E957-0994AFCFB7F2}"/>
                </a:ext>
              </a:extLst>
            </p:cNvPr>
            <p:cNvCxnSpPr>
              <a:cxnSpLocks/>
              <a:stCxn id="46" idx="0"/>
              <a:endCxn id="8" idx="2"/>
            </p:cNvCxnSpPr>
            <p:nvPr/>
          </p:nvCxnSpPr>
          <p:spPr>
            <a:xfrm flipV="1">
              <a:off x="3470749" y="2453585"/>
              <a:ext cx="0" cy="14706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Gerade Verbindung mit Pfeil 92">
              <a:extLst>
                <a:ext uri="{FF2B5EF4-FFF2-40B4-BE49-F238E27FC236}">
                  <a16:creationId xmlns:a16="http://schemas.microsoft.com/office/drawing/2014/main" id="{F59A9622-BF6A-0479-8078-CF6676E6E0DA}"/>
                </a:ext>
              </a:extLst>
            </p:cNvPr>
            <p:cNvCxnSpPr>
              <a:cxnSpLocks/>
              <a:stCxn id="36" idx="2"/>
              <a:endCxn id="46" idx="0"/>
            </p:cNvCxnSpPr>
            <p:nvPr/>
          </p:nvCxnSpPr>
          <p:spPr>
            <a:xfrm>
              <a:off x="2303633" y="3480744"/>
              <a:ext cx="1167116" cy="4435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Gerade Verbindung mit Pfeil 104">
              <a:extLst>
                <a:ext uri="{FF2B5EF4-FFF2-40B4-BE49-F238E27FC236}">
                  <a16:creationId xmlns:a16="http://schemas.microsoft.com/office/drawing/2014/main" id="{261EFC80-DFCB-58F3-C72E-7A0C48C04B92}"/>
                </a:ext>
              </a:extLst>
            </p:cNvPr>
            <p:cNvCxnSpPr>
              <a:cxnSpLocks/>
              <a:stCxn id="56" idx="0"/>
              <a:endCxn id="8" idx="2"/>
            </p:cNvCxnSpPr>
            <p:nvPr/>
          </p:nvCxnSpPr>
          <p:spPr>
            <a:xfrm flipH="1" flipV="1">
              <a:off x="3470749" y="2453585"/>
              <a:ext cx="1138136" cy="5223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Gerade Verbindung mit Pfeil 114">
              <a:extLst>
                <a:ext uri="{FF2B5EF4-FFF2-40B4-BE49-F238E27FC236}">
                  <a16:creationId xmlns:a16="http://schemas.microsoft.com/office/drawing/2014/main" id="{AB7F1928-F6E6-B20F-B28C-991FFB5D01A6}"/>
                </a:ext>
              </a:extLst>
            </p:cNvPr>
            <p:cNvCxnSpPr>
              <a:cxnSpLocks/>
              <a:stCxn id="8" idx="2"/>
              <a:endCxn id="36" idx="0"/>
            </p:cNvCxnSpPr>
            <p:nvPr/>
          </p:nvCxnSpPr>
          <p:spPr>
            <a:xfrm flipH="1">
              <a:off x="2303633" y="2453585"/>
              <a:ext cx="1167116" cy="4435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" name="Textfeld 91">
            <a:extLst>
              <a:ext uri="{FF2B5EF4-FFF2-40B4-BE49-F238E27FC236}">
                <a16:creationId xmlns:a16="http://schemas.microsoft.com/office/drawing/2014/main" id="{EF9D1AE1-447C-5B37-8618-09B9A794C2DB}"/>
              </a:ext>
            </a:extLst>
          </p:cNvPr>
          <p:cNvSpPr txBox="1"/>
          <p:nvPr/>
        </p:nvSpPr>
        <p:spPr>
          <a:xfrm>
            <a:off x="7404071" y="1884223"/>
            <a:ext cx="4761988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UCM-Daten werden in PostgreSQL gespeichert.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Das ML-Modell nutzt UCM-Daten für Training und Preisprognose.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Modellmetriken und Trainingsläufe werden in der Modellhistorie gespeichert.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Der Generator erzeugt herstellerspezifische Kabelbezeichnungen.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Prognosen und generierte Bezeichnungen werden in der Prognosehistorie gespeichert.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Power BI und Streamlit lesen aktuelle Daten aus PostgreSQL.</a:t>
            </a:r>
          </a:p>
        </p:txBody>
      </p:sp>
      <p:cxnSp>
        <p:nvCxnSpPr>
          <p:cNvPr id="114" name="Verbinder: gewinkelt 113">
            <a:extLst>
              <a:ext uri="{FF2B5EF4-FFF2-40B4-BE49-F238E27FC236}">
                <a16:creationId xmlns:a16="http://schemas.microsoft.com/office/drawing/2014/main" id="{127C9354-B534-9164-3A77-81F83177FF90}"/>
              </a:ext>
            </a:extLst>
          </p:cNvPr>
          <p:cNvCxnSpPr>
            <a:stCxn id="12" idx="2"/>
            <a:endCxn id="46" idx="3"/>
          </p:cNvCxnSpPr>
          <p:nvPr/>
        </p:nvCxnSpPr>
        <p:spPr>
          <a:xfrm rot="5400000">
            <a:off x="4354061" y="3375732"/>
            <a:ext cx="1762490" cy="135417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64696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4">
            <a:extLst>
              <a:ext uri="{FF2B5EF4-FFF2-40B4-BE49-F238E27FC236}">
                <a16:creationId xmlns:a16="http://schemas.microsoft.com/office/drawing/2014/main" id="{40427709-F81F-2798-2796-E63D60B9C56F}"/>
              </a:ext>
            </a:extLst>
          </p:cNvPr>
          <p:cNvSpPr txBox="1">
            <a:spLocks/>
          </p:cNvSpPr>
          <p:nvPr/>
        </p:nvSpPr>
        <p:spPr>
          <a:xfrm>
            <a:off x="-1" y="21550"/>
            <a:ext cx="12192000" cy="99542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de-DE" dirty="0"/>
              <a:t>Preisprognose mit </a:t>
            </a:r>
            <a:r>
              <a:rPr lang="de-DE" dirty="0" err="1"/>
              <a:t>Machine</a:t>
            </a:r>
            <a:r>
              <a:rPr lang="de-DE" dirty="0"/>
              <a:t> Learning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06FB5D1-8CAC-D08C-1CCC-C10D7F5B2BA9}"/>
              </a:ext>
            </a:extLst>
          </p:cNvPr>
          <p:cNvSpPr txBox="1"/>
          <p:nvPr/>
        </p:nvSpPr>
        <p:spPr>
          <a:xfrm>
            <a:off x="1" y="5978565"/>
            <a:ext cx="12191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>
                <a:solidFill>
                  <a:srgbClr val="00B0F0"/>
                </a:solidFill>
              </a:rPr>
              <a:t>Die Preisprognose basiert auf technischen UCM-Merkmalen und wird nur bei ausreichender Datenabdeckung verwendet.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2B5CFE6D-6EDA-F9D7-01D1-398E3699C4DD}"/>
              </a:ext>
            </a:extLst>
          </p:cNvPr>
          <p:cNvGrpSpPr/>
          <p:nvPr/>
        </p:nvGrpSpPr>
        <p:grpSpPr>
          <a:xfrm>
            <a:off x="832376" y="1016973"/>
            <a:ext cx="3028545" cy="3642105"/>
            <a:chOff x="1415778" y="1685845"/>
            <a:chExt cx="3028545" cy="3642105"/>
          </a:xfrm>
        </p:grpSpPr>
        <p:sp>
          <p:nvSpPr>
            <p:cNvPr id="7" name="Rechteck: abgerundete Ecken 6">
              <a:extLst>
                <a:ext uri="{FF2B5EF4-FFF2-40B4-BE49-F238E27FC236}">
                  <a16:creationId xmlns:a16="http://schemas.microsoft.com/office/drawing/2014/main" id="{DAD2E4E0-0993-9FFF-DD19-2EA19EB1F0BE}"/>
                </a:ext>
              </a:extLst>
            </p:cNvPr>
            <p:cNvSpPr/>
            <p:nvPr/>
          </p:nvSpPr>
          <p:spPr>
            <a:xfrm>
              <a:off x="2007950" y="1685845"/>
              <a:ext cx="1844202" cy="58365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UCM</a:t>
              </a:r>
            </a:p>
          </p:txBody>
        </p:sp>
        <p:sp>
          <p:nvSpPr>
            <p:cNvPr id="8" name="Rechteck: abgerundete Ecken 7">
              <a:extLst>
                <a:ext uri="{FF2B5EF4-FFF2-40B4-BE49-F238E27FC236}">
                  <a16:creationId xmlns:a16="http://schemas.microsoft.com/office/drawing/2014/main" id="{A1209133-422D-3C10-C004-0C3A89F12A2B}"/>
                </a:ext>
              </a:extLst>
            </p:cNvPr>
            <p:cNvSpPr/>
            <p:nvPr/>
          </p:nvSpPr>
          <p:spPr>
            <a:xfrm>
              <a:off x="2007950" y="2704911"/>
              <a:ext cx="1844202" cy="58365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Feature Engineering</a:t>
              </a:r>
            </a:p>
          </p:txBody>
        </p:sp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21D08B8D-E18D-59B4-22EC-E91FFD83B2F2}"/>
                </a:ext>
              </a:extLst>
            </p:cNvPr>
            <p:cNvSpPr/>
            <p:nvPr/>
          </p:nvSpPr>
          <p:spPr>
            <a:xfrm>
              <a:off x="1881490" y="4744291"/>
              <a:ext cx="2097122" cy="58365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Preisprognose </a:t>
              </a:r>
            </a:p>
          </p:txBody>
        </p:sp>
        <p:cxnSp>
          <p:nvCxnSpPr>
            <p:cNvPr id="10" name="Gerade Verbindung mit Pfeil 9">
              <a:extLst>
                <a:ext uri="{FF2B5EF4-FFF2-40B4-BE49-F238E27FC236}">
                  <a16:creationId xmlns:a16="http://schemas.microsoft.com/office/drawing/2014/main" id="{E3F25A54-FFB0-FDAE-0F21-B2BB81AB5F37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>
              <a:off x="2930051" y="2269504"/>
              <a:ext cx="0" cy="4354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FBB92B85-2BEB-EB5E-1DAF-0170CF50DD05}"/>
                </a:ext>
              </a:extLst>
            </p:cNvPr>
            <p:cNvCxnSpPr>
              <a:cxnSpLocks/>
              <a:stCxn id="8" idx="2"/>
              <a:endCxn id="12" idx="0"/>
            </p:cNvCxnSpPr>
            <p:nvPr/>
          </p:nvCxnSpPr>
          <p:spPr>
            <a:xfrm>
              <a:off x="2930051" y="3288570"/>
              <a:ext cx="0" cy="4360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91FAC81C-4ADC-C0CF-F2AA-90CA0AE463B4}"/>
                </a:ext>
              </a:extLst>
            </p:cNvPr>
            <p:cNvSpPr/>
            <p:nvPr/>
          </p:nvSpPr>
          <p:spPr>
            <a:xfrm>
              <a:off x="1415778" y="3724601"/>
              <a:ext cx="3028545" cy="58365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 err="1"/>
                <a:t>HistGradientBoosting</a:t>
              </a:r>
              <a:r>
                <a:rPr lang="de-DE" dirty="0"/>
                <a:t>-Modell</a:t>
              </a:r>
            </a:p>
          </p:txBody>
        </p:sp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0F33C046-A6A3-4342-D684-804C3DC7F68E}"/>
                </a:ext>
              </a:extLst>
            </p:cNvPr>
            <p:cNvCxnSpPr>
              <a:cxnSpLocks/>
              <a:stCxn id="12" idx="2"/>
              <a:endCxn id="9" idx="0"/>
            </p:cNvCxnSpPr>
            <p:nvPr/>
          </p:nvCxnSpPr>
          <p:spPr>
            <a:xfrm>
              <a:off x="2930051" y="4308260"/>
              <a:ext cx="0" cy="4360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feld 23">
            <a:extLst>
              <a:ext uri="{FF2B5EF4-FFF2-40B4-BE49-F238E27FC236}">
                <a16:creationId xmlns:a16="http://schemas.microsoft.com/office/drawing/2014/main" id="{44621E22-7641-119E-D3FE-FFA86ACE832E}"/>
              </a:ext>
            </a:extLst>
          </p:cNvPr>
          <p:cNvSpPr txBox="1"/>
          <p:nvPr/>
        </p:nvSpPr>
        <p:spPr>
          <a:xfrm>
            <a:off x="7540557" y="978328"/>
            <a:ext cx="460958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 err="1"/>
              <a:t>HistGradientBoosting</a:t>
            </a:r>
            <a:r>
              <a:rPr lang="de-DE" sz="16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nichtlineare Zusammenhänge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robust mit numerischen und kategorial kodierten Merkmalen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zeigte im Vergleich die beste Prognosequalität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17858381-0644-4004-3691-49A12EC3C737}"/>
              </a:ext>
            </a:extLst>
          </p:cNvPr>
          <p:cNvSpPr txBox="1"/>
          <p:nvPr/>
        </p:nvSpPr>
        <p:spPr>
          <a:xfrm>
            <a:off x="4651445" y="2336460"/>
            <a:ext cx="288910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/>
              <a:t>Getestete Modelle</a:t>
            </a:r>
            <a:r>
              <a:rPr lang="ru-RU" sz="1600" dirty="0"/>
              <a:t>:</a:t>
            </a:r>
            <a:endParaRPr lang="de-DE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Linear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Ridge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Random Forest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Gradient Boosting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 err="1"/>
              <a:t>HistGradientBoosting</a:t>
            </a:r>
            <a:endParaRPr lang="de-DE" sz="1600" dirty="0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F72773BB-B769-2D5A-5B76-5E972614A3B0}"/>
              </a:ext>
            </a:extLst>
          </p:cNvPr>
          <p:cNvSpPr txBox="1"/>
          <p:nvPr/>
        </p:nvSpPr>
        <p:spPr>
          <a:xfrm>
            <a:off x="7540556" y="2394009"/>
            <a:ext cx="460958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/>
              <a:t>Bewertung der Modellqualität</a:t>
            </a:r>
            <a:r>
              <a:rPr lang="ru-RU" sz="1600" dirty="0"/>
              <a:t>:</a:t>
            </a:r>
            <a:endParaRPr lang="de-DE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RMSE – stärker gewichteter Fehler bei großen Abweichungen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MAPE – prozentualer Prognosefehler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R² – erklärte Varianz des Modells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2FE94D7E-152E-82EE-AEE0-F41A7FE855FA}"/>
              </a:ext>
            </a:extLst>
          </p:cNvPr>
          <p:cNvSpPr txBox="1"/>
          <p:nvPr/>
        </p:nvSpPr>
        <p:spPr>
          <a:xfrm>
            <a:off x="7540556" y="3857403"/>
            <a:ext cx="472926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/>
              <a:t>Kriterien für eine valide Prognose: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mindestens 100 Preisdatensätze je Hersteller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mindestens 30 Beispiele je relevanter Feature-Ausprägung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vollständige Erkennung technischer Pflichtmerkmale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kompatible Zielkonstruktion</a:t>
            </a:r>
          </a:p>
        </p:txBody>
      </p:sp>
    </p:spTree>
    <p:extLst>
      <p:ext uri="{BB962C8B-B14F-4D97-AF65-F5344CB8AC3E}">
        <p14:creationId xmlns:p14="http://schemas.microsoft.com/office/powerpoint/2010/main" val="1382847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4">
            <a:extLst>
              <a:ext uri="{FF2B5EF4-FFF2-40B4-BE49-F238E27FC236}">
                <a16:creationId xmlns:a16="http://schemas.microsoft.com/office/drawing/2014/main" id="{180CAB3C-5407-8628-1F4A-0DB87CB287E8}"/>
              </a:ext>
            </a:extLst>
          </p:cNvPr>
          <p:cNvSpPr txBox="1">
            <a:spLocks/>
          </p:cNvSpPr>
          <p:nvPr/>
        </p:nvSpPr>
        <p:spPr>
          <a:xfrm>
            <a:off x="-1" y="21550"/>
            <a:ext cx="12192000" cy="99542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de-DE" dirty="0"/>
              <a:t>Generator: UCM → Herstellerbezeichnung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9F71F74-7591-90CE-53F6-1A26966E98DD}"/>
              </a:ext>
            </a:extLst>
          </p:cNvPr>
          <p:cNvSpPr txBox="1"/>
          <p:nvPr/>
        </p:nvSpPr>
        <p:spPr>
          <a:xfrm>
            <a:off x="1" y="5978565"/>
            <a:ext cx="12191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>
                <a:solidFill>
                  <a:srgbClr val="00B0F0"/>
                </a:solidFill>
              </a:rPr>
              <a:t>Aus einer standardisierten UCM-Konstruktion wird eine herstellerspezifische Kabelbezeichnung erzeugt.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3E5F7D21-F8D3-E274-9CF2-D1E26DA89B79}"/>
              </a:ext>
            </a:extLst>
          </p:cNvPr>
          <p:cNvGrpSpPr/>
          <p:nvPr/>
        </p:nvGrpSpPr>
        <p:grpSpPr>
          <a:xfrm>
            <a:off x="793466" y="1016973"/>
            <a:ext cx="3028545" cy="3358867"/>
            <a:chOff x="1415778" y="1685845"/>
            <a:chExt cx="3028545" cy="3358867"/>
          </a:xfrm>
        </p:grpSpPr>
        <p:sp>
          <p:nvSpPr>
            <p:cNvPr id="7" name="Rechteck: abgerundete Ecken 6">
              <a:extLst>
                <a:ext uri="{FF2B5EF4-FFF2-40B4-BE49-F238E27FC236}">
                  <a16:creationId xmlns:a16="http://schemas.microsoft.com/office/drawing/2014/main" id="{4029501C-63A5-DB1A-C07C-30AEFD4DFC34}"/>
                </a:ext>
              </a:extLst>
            </p:cNvPr>
            <p:cNvSpPr/>
            <p:nvPr/>
          </p:nvSpPr>
          <p:spPr>
            <a:xfrm>
              <a:off x="2007950" y="1685845"/>
              <a:ext cx="1844202" cy="58365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UCM</a:t>
              </a:r>
            </a:p>
          </p:txBody>
        </p:sp>
        <p:sp>
          <p:nvSpPr>
            <p:cNvPr id="8" name="Rechteck: abgerundete Ecken 7">
              <a:extLst>
                <a:ext uri="{FF2B5EF4-FFF2-40B4-BE49-F238E27FC236}">
                  <a16:creationId xmlns:a16="http://schemas.microsoft.com/office/drawing/2014/main" id="{4A86937D-6087-E101-7BBD-2A1CAF6DB18C}"/>
                </a:ext>
              </a:extLst>
            </p:cNvPr>
            <p:cNvSpPr/>
            <p:nvPr/>
          </p:nvSpPr>
          <p:spPr>
            <a:xfrm>
              <a:off x="2007950" y="2704911"/>
              <a:ext cx="1844202" cy="58365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Generator</a:t>
              </a:r>
            </a:p>
          </p:txBody>
        </p:sp>
        <p:cxnSp>
          <p:nvCxnSpPr>
            <p:cNvPr id="10" name="Gerade Verbindung mit Pfeil 9">
              <a:extLst>
                <a:ext uri="{FF2B5EF4-FFF2-40B4-BE49-F238E27FC236}">
                  <a16:creationId xmlns:a16="http://schemas.microsoft.com/office/drawing/2014/main" id="{B3AC9996-65C8-68AA-416A-BA978CD566FB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>
              <a:off x="2930051" y="2269504"/>
              <a:ext cx="0" cy="4354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1EC87C94-4A97-55AC-81BE-B9A905CBADD7}"/>
                </a:ext>
              </a:extLst>
            </p:cNvPr>
            <p:cNvCxnSpPr>
              <a:cxnSpLocks/>
              <a:stCxn id="8" idx="2"/>
              <a:endCxn id="12" idx="0"/>
            </p:cNvCxnSpPr>
            <p:nvPr/>
          </p:nvCxnSpPr>
          <p:spPr>
            <a:xfrm>
              <a:off x="2930051" y="3288570"/>
              <a:ext cx="0" cy="4360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9BF3D5C2-B446-13BC-4E98-95C86AEE6848}"/>
                </a:ext>
              </a:extLst>
            </p:cNvPr>
            <p:cNvSpPr/>
            <p:nvPr/>
          </p:nvSpPr>
          <p:spPr>
            <a:xfrm>
              <a:off x="1415778" y="3724601"/>
              <a:ext cx="3028545" cy="1320111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ATOMKIP-KU</a:t>
              </a:r>
            </a:p>
            <a:p>
              <a:pPr algn="ctr"/>
              <a:r>
                <a:rPr lang="de-DE" dirty="0"/>
                <a:t>CONFLEX</a:t>
              </a:r>
            </a:p>
            <a:p>
              <a:pPr algn="ctr"/>
              <a:r>
                <a:rPr lang="de-DE" dirty="0"/>
                <a:t>TOFLEX</a:t>
              </a:r>
            </a:p>
            <a:p>
              <a:pPr algn="ctr"/>
              <a:r>
                <a:rPr lang="de-DE" dirty="0"/>
                <a:t>MK</a:t>
              </a:r>
            </a:p>
          </p:txBody>
        </p:sp>
      </p:grpSp>
      <p:graphicFrame>
        <p:nvGraphicFramePr>
          <p:cNvPr id="17" name="Tabelle 16">
            <a:extLst>
              <a:ext uri="{FF2B5EF4-FFF2-40B4-BE49-F238E27FC236}">
                <a16:creationId xmlns:a16="http://schemas.microsoft.com/office/drawing/2014/main" id="{6DFAF79E-B456-42F9-2B11-F20FC541D1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130422"/>
              </p:ext>
            </p:extLst>
          </p:nvPr>
        </p:nvGraphicFramePr>
        <p:xfrm>
          <a:off x="4365950" y="3055729"/>
          <a:ext cx="7710400" cy="2011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53532">
                  <a:extLst>
                    <a:ext uri="{9D8B030D-6E8A-4147-A177-3AD203B41FA5}">
                      <a16:colId xmlns:a16="http://schemas.microsoft.com/office/drawing/2014/main" val="2444946486"/>
                    </a:ext>
                  </a:extLst>
                </a:gridCol>
                <a:gridCol w="4556868">
                  <a:extLst>
                    <a:ext uri="{9D8B030D-6E8A-4147-A177-3AD203B41FA5}">
                      <a16:colId xmlns:a16="http://schemas.microsoft.com/office/drawing/2014/main" val="2256905702"/>
                    </a:ext>
                  </a:extLst>
                </a:gridCol>
              </a:tblGrid>
              <a:tr h="502920">
                <a:tc rowSpan="4"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B0F0"/>
                          </a:solidFill>
                        </a:rPr>
                        <a:t>UCM:</a:t>
                      </a:r>
                    </a:p>
                    <a:p>
                      <a:r>
                        <a:rPr lang="de-DE" dirty="0"/>
                        <a:t>Isolierung: PVC</a:t>
                      </a:r>
                    </a:p>
                    <a:p>
                      <a:r>
                        <a:rPr lang="de-DE" dirty="0"/>
                        <a:t>Gesamtschirm: Aluminiumfolie</a:t>
                      </a:r>
                    </a:p>
                    <a:p>
                      <a:r>
                        <a:rPr lang="de-DE" dirty="0"/>
                        <a:t>Gruppentyp: Paar</a:t>
                      </a:r>
                    </a:p>
                    <a:p>
                      <a:r>
                        <a:rPr lang="de-DE" dirty="0"/>
                        <a:t>Gruppen: 4</a:t>
                      </a:r>
                    </a:p>
                    <a:p>
                      <a:r>
                        <a:rPr lang="de-DE" dirty="0"/>
                        <a:t>Querschnitt: 1,5 mm²</a:t>
                      </a:r>
                    </a:p>
                    <a:p>
                      <a:r>
                        <a:rPr lang="de-DE" dirty="0"/>
                        <a:t>Nennspannung: 660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ATOMKIP-</a:t>
                      </a:r>
                      <a:r>
                        <a:rPr lang="de-DE" dirty="0" err="1"/>
                        <a:t>KUVOfVng</a:t>
                      </a:r>
                      <a:r>
                        <a:rPr lang="de-DE" dirty="0"/>
                        <a:t>(A)-LS 4x2x1,5kl5 690V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5440786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CONFLEX </a:t>
                      </a:r>
                      <a:r>
                        <a:rPr lang="en-US" dirty="0" err="1"/>
                        <a:t>MKefShVng</a:t>
                      </a:r>
                      <a:r>
                        <a:rPr lang="en-US" dirty="0"/>
                        <a:t>(A)-LS 4x2x1,5 660V</a:t>
                      </a:r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6402244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TOFLEX </a:t>
                      </a:r>
                      <a:r>
                        <a:rPr lang="en-US" dirty="0" err="1"/>
                        <a:t>KUVEaVng</a:t>
                      </a:r>
                      <a:r>
                        <a:rPr lang="en-US" dirty="0"/>
                        <a:t>(A)-LS 4x2x1,5 - 660</a:t>
                      </a:r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0874557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MKEfShVzng</a:t>
                      </a:r>
                      <a:r>
                        <a:rPr lang="en-US" dirty="0"/>
                        <a:t>(A)-LS (4x2x1,5) 660</a:t>
                      </a:r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5878282"/>
                  </a:ext>
                </a:extLst>
              </a:tr>
            </a:tbl>
          </a:graphicData>
        </a:graphic>
      </p:graphicFrame>
      <p:sp>
        <p:nvSpPr>
          <p:cNvPr id="18" name="Textfeld 17">
            <a:extLst>
              <a:ext uri="{FF2B5EF4-FFF2-40B4-BE49-F238E27FC236}">
                <a16:creationId xmlns:a16="http://schemas.microsoft.com/office/drawing/2014/main" id="{1B92C2AA-E8A0-A362-09E6-69876C47AC84}"/>
              </a:ext>
            </a:extLst>
          </p:cNvPr>
          <p:cNvSpPr txBox="1"/>
          <p:nvPr/>
        </p:nvSpPr>
        <p:spPr>
          <a:xfrm>
            <a:off x="7598925" y="1218170"/>
            <a:ext cx="41131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Generierung nach Herstellerregeln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Unterstützung von kyrillischen und transliterierten Bezeichnungen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Prüfung der technischen Kompatibilität</a:t>
            </a:r>
          </a:p>
        </p:txBody>
      </p:sp>
    </p:spTree>
    <p:extLst>
      <p:ext uri="{BB962C8B-B14F-4D97-AF65-F5344CB8AC3E}">
        <p14:creationId xmlns:p14="http://schemas.microsoft.com/office/powerpoint/2010/main" val="3440970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4">
            <a:extLst>
              <a:ext uri="{FF2B5EF4-FFF2-40B4-BE49-F238E27FC236}">
                <a16:creationId xmlns:a16="http://schemas.microsoft.com/office/drawing/2014/main" id="{B01974F2-51AE-CADD-DC9D-B9464F52F22B}"/>
              </a:ext>
            </a:extLst>
          </p:cNvPr>
          <p:cNvSpPr txBox="1">
            <a:spLocks/>
          </p:cNvSpPr>
          <p:nvPr/>
        </p:nvSpPr>
        <p:spPr>
          <a:xfrm>
            <a:off x="-1" y="21550"/>
            <a:ext cx="12192000" cy="99542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de-DE" dirty="0"/>
              <a:t>Power BI / Streamlit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57BA5DF-1C92-E590-913E-368959FC5057}"/>
              </a:ext>
            </a:extLst>
          </p:cNvPr>
          <p:cNvSpPr txBox="1"/>
          <p:nvPr/>
        </p:nvSpPr>
        <p:spPr>
          <a:xfrm>
            <a:off x="1" y="5978565"/>
            <a:ext cx="12191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>
                <a:solidFill>
                  <a:srgbClr val="00B0F0"/>
                </a:solidFill>
              </a:rPr>
              <a:t>Die Ergebnisse der Pipeline werden für Analyse und operative Nutzung sichtbar gemacht.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0CEB0E4-DB27-D36C-A4EC-2040AC293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66" y="1711573"/>
            <a:ext cx="5257799" cy="297657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3F5D522-C227-B234-C323-DF2B8A141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711573"/>
            <a:ext cx="5878750" cy="2950736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6CCA218E-CD2A-53AE-B329-1594FAD7D7A0}"/>
              </a:ext>
            </a:extLst>
          </p:cNvPr>
          <p:cNvSpPr txBox="1"/>
          <p:nvPr/>
        </p:nvSpPr>
        <p:spPr>
          <a:xfrm>
            <a:off x="2163232" y="4778236"/>
            <a:ext cx="78655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Power BI visualisiert Datenabdeckung, Modellqualität und Prognoseergebnisse.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Streamlit ermöglicht den Upload neuer Kabelbezeichnungen.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Ergebnis: generierte Herstellerbezeichnung, Preisprognose und Prognosestatus.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Download der angereicherten CSV-Datei.</a:t>
            </a:r>
          </a:p>
        </p:txBody>
      </p:sp>
    </p:spTree>
    <p:extLst>
      <p:ext uri="{BB962C8B-B14F-4D97-AF65-F5344CB8AC3E}">
        <p14:creationId xmlns:p14="http://schemas.microsoft.com/office/powerpoint/2010/main" val="39768298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4">
            <a:extLst>
              <a:ext uri="{FF2B5EF4-FFF2-40B4-BE49-F238E27FC236}">
                <a16:creationId xmlns:a16="http://schemas.microsoft.com/office/drawing/2014/main" id="{8132F8D2-FBC7-3239-99D0-DEF00C13A88F}"/>
              </a:ext>
            </a:extLst>
          </p:cNvPr>
          <p:cNvSpPr txBox="1">
            <a:spLocks/>
          </p:cNvSpPr>
          <p:nvPr/>
        </p:nvSpPr>
        <p:spPr>
          <a:xfrm>
            <a:off x="-1" y="21550"/>
            <a:ext cx="12192000" cy="99542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de-DE" dirty="0"/>
              <a:t>Grenzen des Modells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816E0F7-B545-9DA1-BDFF-4A44D2497D8A}"/>
              </a:ext>
            </a:extLst>
          </p:cNvPr>
          <p:cNvSpPr txBox="1"/>
          <p:nvPr/>
        </p:nvSpPr>
        <p:spPr>
          <a:xfrm>
            <a:off x="1384393" y="1697275"/>
            <a:ext cx="108076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rgbClr val="00B0F0"/>
                </a:solidFill>
              </a:rPr>
              <a:t>Zeitliche Stabilität der Preise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Trainingsdaten sollten aus einem Zeitraum ohne starke Preisänderungen stammen.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Preisänderungen durch Kupfer, Materialkosten oder Marktbedingungen können die Prognosequalität beeinflussen.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ED4BBA4-0414-867F-7971-7571D4802595}"/>
              </a:ext>
            </a:extLst>
          </p:cNvPr>
          <p:cNvSpPr txBox="1"/>
          <p:nvPr/>
        </p:nvSpPr>
        <p:spPr>
          <a:xfrm>
            <a:off x="1384392" y="3037067"/>
            <a:ext cx="108076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rgbClr val="00B0F0"/>
                </a:solidFill>
              </a:rPr>
              <a:t>Begrenzter Konstruktionsraum</a:t>
            </a:r>
            <a:endParaRPr lang="ru-RU" b="1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Das Modell prognostiziert nur Konstruktionen, die im Trainingsraum ausreichend vertreten sind.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Neue oder seltene Konstruktionen werden nur bei ausreichender Datenabdeckung bewertet.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790C59F-9E45-6444-1C93-F246EE490F33}"/>
              </a:ext>
            </a:extLst>
          </p:cNvPr>
          <p:cNvSpPr txBox="1"/>
          <p:nvPr/>
        </p:nvSpPr>
        <p:spPr>
          <a:xfrm>
            <a:off x="1384393" y="4097934"/>
            <a:ext cx="108076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rgbClr val="00B0F0"/>
                </a:solidFill>
              </a:rPr>
              <a:t>Feature-Abdeckung</a:t>
            </a:r>
            <a:endParaRPr lang="ru-RU" b="1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Relevante Merkmalsausprägungen benötigen genügend Beispiele im Training.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Bei unzureichender Feature-Abdeckung wird kein verlässlicher Preis ausgegeben.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1258CA3-4286-C633-EF16-5B63466D5D17}"/>
              </a:ext>
            </a:extLst>
          </p:cNvPr>
          <p:cNvSpPr txBox="1"/>
          <p:nvPr/>
        </p:nvSpPr>
        <p:spPr>
          <a:xfrm>
            <a:off x="1" y="5978565"/>
            <a:ext cx="12191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>
                <a:solidFill>
                  <a:srgbClr val="00B0F0"/>
                </a:solidFill>
              </a:rPr>
              <a:t>Das Modell ersetzt keine technische Kalkulation, sondern unterstützt Preisabschätzungen bei ausreichender Datenbasis.</a:t>
            </a:r>
          </a:p>
        </p:txBody>
      </p:sp>
    </p:spTree>
    <p:extLst>
      <p:ext uri="{BB962C8B-B14F-4D97-AF65-F5344CB8AC3E}">
        <p14:creationId xmlns:p14="http://schemas.microsoft.com/office/powerpoint/2010/main" val="2623377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4">
            <a:extLst>
              <a:ext uri="{FF2B5EF4-FFF2-40B4-BE49-F238E27FC236}">
                <a16:creationId xmlns:a16="http://schemas.microsoft.com/office/drawing/2014/main" id="{B683DBEA-190B-6BBC-D522-D743C7FEBC2C}"/>
              </a:ext>
            </a:extLst>
          </p:cNvPr>
          <p:cNvSpPr txBox="1">
            <a:spLocks/>
          </p:cNvSpPr>
          <p:nvPr/>
        </p:nvSpPr>
        <p:spPr>
          <a:xfrm>
            <a:off x="-1" y="21550"/>
            <a:ext cx="12192000" cy="99542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de-DE" dirty="0"/>
              <a:t>Weiterentwicklung des Projekts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6B60A9B-1CF8-8151-D9EE-A6AA930BE2E3}"/>
              </a:ext>
            </a:extLst>
          </p:cNvPr>
          <p:cNvSpPr txBox="1"/>
          <p:nvPr/>
        </p:nvSpPr>
        <p:spPr>
          <a:xfrm>
            <a:off x="1" y="5978565"/>
            <a:ext cx="12191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>
                <a:solidFill>
                  <a:srgbClr val="00B0F0"/>
                </a:solidFill>
              </a:rPr>
              <a:t>Ziel ist eine erweiterbare Plattform für herstellerübergreifende Kabelklassifizierung und Preisprognose.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3DDA1A3-81D4-BE7A-EE5D-470D7935FD93}"/>
              </a:ext>
            </a:extLst>
          </p:cNvPr>
          <p:cNvSpPr txBox="1"/>
          <p:nvPr/>
        </p:nvSpPr>
        <p:spPr>
          <a:xfrm>
            <a:off x="1384391" y="1815808"/>
            <a:ext cx="108076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rgbClr val="00B0F0"/>
                </a:solidFill>
              </a:rPr>
              <a:t>Neue Datenquellen und Hersteller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Erweiterung der Datenanbindung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Parser und Generatoren für weitere europäische Hersteller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Priorisierte Hersteller:  LAPP, HELUKABEL, Leoni, Prysmian / </a:t>
            </a:r>
            <a:r>
              <a:rPr lang="de-DE" dirty="0" err="1"/>
              <a:t>Draka</a:t>
            </a:r>
            <a:r>
              <a:rPr lang="de-DE" dirty="0"/>
              <a:t>, Nexans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F519BB7-648C-477A-2E01-87CF0F7CF181}"/>
              </a:ext>
            </a:extLst>
          </p:cNvPr>
          <p:cNvSpPr txBox="1"/>
          <p:nvPr/>
        </p:nvSpPr>
        <p:spPr>
          <a:xfrm>
            <a:off x="1384390" y="3429000"/>
            <a:ext cx="108076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rgbClr val="00B0F0"/>
                </a:solidFill>
              </a:rPr>
              <a:t>Verbesserte Prognose-Erklärbarkeit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Detailliertere Begründung bei nicht möglicher Prognose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Anzeige fehlender Feature-Abdeckung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Hinweis, welche Merkmale oder Datenmengen für eine valide Prognose fehlen</a:t>
            </a:r>
          </a:p>
        </p:txBody>
      </p:sp>
    </p:spTree>
    <p:extLst>
      <p:ext uri="{BB962C8B-B14F-4D97-AF65-F5344CB8AC3E}">
        <p14:creationId xmlns:p14="http://schemas.microsoft.com/office/powerpoint/2010/main" val="1893322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5690374C-1A59-4A71-8148-5C0E026A3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dirty="0"/>
              <a:t>2026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21A8359F-00D6-408F-ACF5-D8A1A931C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de-DE" dirty="0"/>
              <a:t>Vielen Dank für Ihre Aufmerksamkeit</a:t>
            </a:r>
          </a:p>
        </p:txBody>
      </p:sp>
      <p:pic>
        <p:nvPicPr>
          <p:cNvPr id="9" name="Grafik 8" descr="Häkchen mit einfarbiger Füllung">
            <a:extLst>
              <a:ext uri="{FF2B5EF4-FFF2-40B4-BE49-F238E27FC236}">
                <a16:creationId xmlns:a16="http://schemas.microsoft.com/office/drawing/2014/main" id="{FB425D22-29C0-83A8-5F62-5E3F2608B0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5102" y="247491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388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2167496_TF33476885.potx" id="{92ADD164-3649-4567-B32F-0DEC3D707E51}" vid="{6637D9DD-3961-48BF-86D5-CF3F7F5C6878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4E879E6-8FFE-4154-8F2A-F7518B89B37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A941CA7C-A0BF-44EF-B2E5-7539C3B9B0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E0A2CB4-6869-426F-8BC4-A32C90CBE26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Klassische Town-Hall-Präsentation für Unternehmen</Template>
  <TotalTime>0</TotalTime>
  <Words>943</Words>
  <Application>Microsoft Office PowerPoint</Application>
  <PresentationFormat>Breitbild</PresentationFormat>
  <Paragraphs>228</Paragraphs>
  <Slides>14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8" baseType="lpstr">
      <vt:lpstr>Arial</vt:lpstr>
      <vt:lpstr>Calibri</vt:lpstr>
      <vt:lpstr>Wingdings</vt:lpstr>
      <vt:lpstr>RetrospectVTI</vt:lpstr>
      <vt:lpstr>Cable Price Intelligence Automatisierte Kabelklassifizierung  und Preisprognose</vt:lpstr>
      <vt:lpstr>Kabelkonstruktion und Variantenvielfalt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2026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NoNaMe</dc:creator>
  <cp:lastModifiedBy>NoNaMe</cp:lastModifiedBy>
  <cp:revision>24</cp:revision>
  <dcterms:created xsi:type="dcterms:W3CDTF">2026-07-15T18:11:11Z</dcterms:created>
  <dcterms:modified xsi:type="dcterms:W3CDTF">2026-07-16T20:09:22Z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